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Buenas. El énfasis del proyecto está en la programación geoespacial y la reproducibilidad: cómo articular Python, R, Julia, Google Earth Engine, un contenedor Docker y un dashboard web dentro de un mismo flujo de trabajo. La Ciénaga Grande de Santa Marta funciona como caso de aplicación y, al mismo tiempo, como una línea de avance para mi investigación de maestría.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Ciénaga Grande de Santa Marta es un sistema lagunar-costero estratégico de Colombia, reconocido como sitio Ramsar y Reserva de Biosfera. Su manglar ha presentado ciclos de degradación y recuperación relacionados con cambios hidrológicos, hipersalinización y variabilidad climática, especialmente asociada al ENSO. Para este proyecto trabajé con un AOI acotado de 835,3 km², correspondiente al Santuario de Fauna y Flora CGSM y la Vía Parque Isla de Salamanca. El reto no es la falta de datos: existen imágenes satelitales frecuentes. El problema es convertir esos datos en un flujo reproducible que integre información óptica, radar y climática para monitorear cambios del manglar.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oportunidad del proyecto está en la integración. La información existe, pero suele estar dispersa: imágenes ópticas por un lado, radar por otro, métricas de fragmentación en otro flujo, y variables climáticas en análisis separados. Por eso, la pregunta no se centra solo en mapear manglar, sino en entender cómo cambiaron la cobertura, la fragmentación y el vigor del manglar entre 2013 y 2025, y cómo esas perturbaciones se relacionan con forzamientos climáticos e hidrológicos, especialmente ENSO, caudal y precipitación.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objetivo general fue desarrollar un pipeline multilenguaje, reproducible e interoperable para monitorear la dinámica del manglar de la CGSM entre 2013 y 2025. Ese objetivo se concreta en cinco pasos. Primero, construir un datacube multitemporal con índices espectrales. Segundo, detectar anomalías y quiebres temporales en las series de NDVI. Tercero, segmentar el manglar y calcular métricas de fragmentación. Cuarto, relacionar esas señales con variables climático-hidrológicas. Y quinto, validar la clasificación comparando una regla por umbrales con un Random Forest frente a cartografías de referencia.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área de estudio se acotó para evitar un análisis espacial sobredimensionado. Inicialmente se tenía un AOI de más de cinco mil kilómetros cuadrados, pero ese polígono incluía vegetación riberana, salitrales y zonas que no correspondían directamente al objetivo del proyecto. Por eso se trabajó con un AOI de 835,3 km², obtenido de la unión del Santuario de Fauna y Flora CGSM y la Vía Parque Isla de Salamanca. Además, se definieron ocho estaciones de análisis: cinco provenientes de INVEMAR-GBIF y tres complementarias sobre áreas de manglar verificadas. Todas las áreas se calcularon en EPSG:9377 para mantener coherencia métrica con el sistema oficial colombiano.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pipeline integra trece conjuntos de datos agrupados en seis categorías. La base óptica proviene de Sentinel-2 y Landsat 8/9; el componente radar usa Sentinel-1; la validación cartográfica se apoya en INVEMAR y ESA WorldCover; y el contexto climático e hidrológico integra ERA5-Land, ENSO, caudal IDEAM y precipitación CHIRPS. Además, se incorporan capas de agua e inundación, como JRC Global Surface Water y Global Flood Database, junto con SRTM y estaciones INVEMAR-GBIF. La mayoría de fuentes se gestionó desde Google Earth Engine, lo que reduce la necesidad de descargar imágenes pesadas y favorece la reproducibilidad del flujo.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diapositiva central del proyecto. El aporte de programación está en orquestar tres lenguajes dentro de una sola arquitectura reproducible. Python centraliza la adquisición en Google Earth Engine, la segmentación con SamGeo, el Random Forest, los datacubes y el dashboard. R se usa para el análisis temporal, especialmente BFAST y las relaciones con variables climáticas e hidrológicas. Julia se encarga del cómputo geométrico, las métricas de fragmentación y la topología DE-9IM. El punto de encuentro es un datacube en NetCDF CF-1.8, reproyectado a EPSG:9377. El contenedor Docker congela el entorno y permite que el flujo sea reproducible de extremo a extremo.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flujo metodológico se organiza en cinco fases y un módulo SAR. Primero, se construye el datacube con composiciones Sentinel-2 y Landsat. Segundo, se extraen series temporales de NDVI y se aplican anomalías z-score y BFAST para detectar quiebres. Tercero, se usa SamGeo para segmentar el manglar en tres periodos. Cuarto, Julia calcula métricas de fragmentación y relaciones topológicas. El módulo SAR analiza inundación con Sentinel-1 VH mediante la diferencia entre condiciones secas e inundadas. Finalmente, se entrena un Random Forest como referencia robusta frente a la clasificación por umbrales.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dinámica temporal se integraron 929 observaciones mensuales de NDVI. La serie muestra dieciocho anomalías significativas, concentradas especialmente en 2016, 2018 y septiembre de 2020. El NDVI mediano del manglar se mantuvo cerca de 0,80, cayó alrededor de 0,60 entre 2019 y 2020, y volvió a estabilizarse cerca de 0,80 desde 2022. BFAST detectó un quiebre generalizado en 2016, consistente con el evento El Niño. Cuando el análisis se restringe a estaciones de manglar denso, la señal de 2020 y las respuestas posteriores se vuelven más claras.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dinámica espacial, la segmentación con SamGeo muestra una reorganización del manglar. La cobertura clasificada disminuye de 12.426 a 4.037 hectáreas y el número de parches baja de 79 a 15. Sin embargo, el área media por parche aumenta de 157 a 269 hectáreas. Por eso, la lectura no debe ser una pérdida directa de cobertura. La señal indica una contracción aparente acompañada de consolidación estructural: menos parches, pero más grandes y compactos. Esta interpretación se refuerza al cruzar la segmentación con el comportamiento del NDVI y las métricas de fragmentación. La topología DE-9IM permitió verificar de forma consistente las relaciones espaciales entre Python y Julia.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módulo climático e hidrológico muestra que no conviene promediar todas las estaciones, porque manglar y cuerpos de agua pueden responder con signos opuestos. Al desagregar por naturaleza espectral, la señal se vuelve más interpretable. El caudal del río Magdalena presenta una asociación positiva con el NDVI del manglar, con un rezago de tres meses. En el componente radar, Sentinel-1 permitió identificar 59,02 km² de inundación en septiembre de 2020, de los cuales 43,08 km² corresponden a inundación bajo dosel asociada al doble rebote agua-tronco. En Pajarales, la relación SAR-VH y NDVI alcanza un rho de 0,81, lo que sugiere que el radar captura cambios estructurales complementarios al vigor óptico.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validación cartográfica compara dos enfoques: una regla por umbrales y un Random Forest. La regla por umbrales es conservadora y obtiene F1 de 0,583 frente a INVEMAR y 0,548 frente a WorldCover. El Random Forest mejora de forma clara el desempeño, con F1 de 0,826 frente a INVEMAR y 0,889 frente a WorldCover. Además, el acuerdo entre INVEMAR y WorldCover es de 0,833, lo que funciona como un techo metodológico realista: no se debe esperar un acuerdo perfecto cuando las propias referencias difieren. La importancia de variables muestra que las bandas SWIR y la distancia al agua pesan más que el NDVI, lo cual es coherente con un ecosistema de manglar influenciado por humedad, salinidad y proximidad al agua.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pipeline cierra con un módulo de alertas tempranas que funciona como componente operacional inicial hacia un futuro Gemelo Digital. El módulo usa series incrementales y clasifica cada estación con una lógica tipo semáforo. Al cierre del periodo analizado se identifican cinco estaciones estables, tres en alerta y ninguna crítica. Más importante que el semáforo en sí es que el resultado viene de un flujo reproducible: Python, R y Julia producen valores equivalentes hasta tres decimales, el contenedor Docker congela el entorno y el dashboard HTML permite consultar los productos sin depender de Jupyter.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producto final del pipeline es el CGSM Monitor, un dashboard HTML publicado en GitHub Pages. Tiene cinco pestañas: Resumen, Cobertura, Clima e hidrología, Validación multilenguaje y Acerca de. El valor del monitor no está solo en mostrar mapas bonitos. Su aporte es que convierte el flujo de programación en un producto consultable, con diecisiete capas temáticas, indicadores clave y documentación de datos y métodos. Además, al ser un HTML autocontenido, puede consultarse desde el navegador sin abrir notebooks ni instalar software especializado.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cerrar, este proyecto demuestra que es posible orquestar Python, R y Julia en un flujo reproducible para monitorear la dinámica del manglar en la Ciénaga Grande de Santa Marta. Los hallazgos principales son tres: la respuesta temporal del manglar frente a eventos ENSO, una dinámica espacial de contracción aparente con consolidación estructural, y la mejora clara del Random Forest frente a la regla por umbrales. También hay límites importantes: no se contó con validación de campo independiente, la red hidrométrica es limitada y las relaciones encontradas son asociaciones temporales, no causalidad. Como trabajo futuro, el flujo puede fortalecerse con validación in situ, más estaciones y una transición hacia un Gemelo Digital costero con alertas operativas. Muchas gracias.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nitor-titl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68680" y="1143000"/>
            <a:ext cx="10424160" cy="365760"/>
          </a:xfrm>
          <a:prstGeom prst="rect">
            <a:avLst/>
          </a:prstGeom>
          <a:noFill/>
        </p:spPr>
        <p:txBody>
          <a:bodyPr wrap="square" lIns="0" rIns="0" tIns="0" bIns="0">
            <a:spAutoFit/>
          </a:bodyPr>
          <a:lstStyle/>
          <a:p>
            <a:pPr algn="l">
              <a:spcBef>
                <a:spcPts val="0"/>
              </a:spcBef>
              <a:spcAft>
                <a:spcPts val="300"/>
              </a:spcAft>
            </a:pPr>
            <a:r>
              <a:rPr sz="1250" b="1" i="0">
                <a:solidFill>
                  <a:srgbClr val="F59E0B"/>
                </a:solidFill>
                <a:latin typeface="Calibri"/>
              </a:rPr>
              <a:t>UNIVERSIDAD NACIONAL DE COLOMBIA</a:t>
            </a:r>
          </a:p>
        </p:txBody>
      </p:sp>
      <p:sp>
        <p:nvSpPr>
          <p:cNvPr id="4" name="TextBox 3"/>
          <p:cNvSpPr txBox="1"/>
          <p:nvPr/>
        </p:nvSpPr>
        <p:spPr>
          <a:xfrm>
            <a:off x="868680" y="1572768"/>
            <a:ext cx="10424160" cy="320040"/>
          </a:xfrm>
          <a:prstGeom prst="rect">
            <a:avLst/>
          </a:prstGeom>
          <a:noFill/>
        </p:spPr>
        <p:txBody>
          <a:bodyPr wrap="square" lIns="0" rIns="0" tIns="0" bIns="0">
            <a:spAutoFit/>
          </a:bodyPr>
          <a:lstStyle/>
          <a:p>
            <a:pPr algn="l">
              <a:spcBef>
                <a:spcPts val="0"/>
              </a:spcBef>
              <a:spcAft>
                <a:spcPts val="0"/>
              </a:spcAft>
            </a:pPr>
            <a:r>
              <a:rPr sz="1200" b="1" i="0">
                <a:solidFill>
                  <a:srgbClr val="DBE7DF"/>
                </a:solidFill>
                <a:latin typeface="Calibri"/>
              </a:rPr>
              <a:t>PROGRAMACIÓN EN SIG  ·  PROYECTO FINAL</a:t>
            </a:r>
          </a:p>
        </p:txBody>
      </p:sp>
      <p:sp>
        <p:nvSpPr>
          <p:cNvPr id="5" name="TextBox 4"/>
          <p:cNvSpPr txBox="1"/>
          <p:nvPr/>
        </p:nvSpPr>
        <p:spPr>
          <a:xfrm>
            <a:off x="868680" y="2148840"/>
            <a:ext cx="10241280" cy="1920240"/>
          </a:xfrm>
          <a:prstGeom prst="rect">
            <a:avLst/>
          </a:prstGeom>
          <a:noFill/>
        </p:spPr>
        <p:txBody>
          <a:bodyPr wrap="square" lIns="0" rIns="0" tIns="0" bIns="0">
            <a:spAutoFit/>
          </a:bodyPr>
          <a:lstStyle/>
          <a:p>
            <a:pPr algn="l">
              <a:lnSpc>
                <a:spcPct val="104000"/>
              </a:lnSpc>
              <a:spcBef>
                <a:spcPts val="0"/>
              </a:spcBef>
              <a:spcAft>
                <a:spcPts val="0"/>
              </a:spcAft>
            </a:pPr>
            <a:r>
              <a:rPr sz="3300" b="1" i="0">
                <a:solidFill>
                  <a:srgbClr val="FFFFFF"/>
                </a:solidFill>
                <a:latin typeface="Georgia"/>
              </a:rPr>
              <a:t>Pipeline multilenguaje para el monitoreo del manglar en la Ciénaga Grande de Santa Marta</a:t>
            </a:r>
          </a:p>
        </p:txBody>
      </p:sp>
      <p:sp>
        <p:nvSpPr>
          <p:cNvPr id="6" name="Rounded Rectangle 5"/>
          <p:cNvSpPr/>
          <p:nvPr/>
        </p:nvSpPr>
        <p:spPr>
          <a:xfrm>
            <a:off x="868680" y="4160520"/>
            <a:ext cx="1828800" cy="5486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370832"/>
            <a:ext cx="7680960" cy="731520"/>
          </a:xfrm>
          <a:prstGeom prst="rect">
            <a:avLst/>
          </a:prstGeom>
          <a:noFill/>
        </p:spPr>
        <p:txBody>
          <a:bodyPr wrap="square" lIns="0" rIns="0" tIns="0" bIns="0">
            <a:spAutoFit/>
          </a:bodyPr>
          <a:lstStyle/>
          <a:p>
            <a:pPr algn="l">
              <a:lnSpc>
                <a:spcPct val="112000"/>
              </a:lnSpc>
              <a:spcBef>
                <a:spcPts val="0"/>
              </a:spcBef>
              <a:spcAft>
                <a:spcPts val="0"/>
              </a:spcAft>
            </a:pPr>
            <a:r>
              <a:rPr sz="1500" b="0" i="0">
                <a:solidFill>
                  <a:srgbClr val="DBE7DF"/>
                </a:solidFill>
                <a:latin typeface="Calibri"/>
              </a:rPr>
              <a:t>Pipeline en Python, R y Julia, conectado a Google Earth Engine y ejecutado en Docker para caracterizar la dinámica espaciotemporal del manglar, 2013–2025.</a:t>
            </a:r>
          </a:p>
        </p:txBody>
      </p:sp>
      <p:sp>
        <p:nvSpPr>
          <p:cNvPr id="8" name="TextBox 7"/>
          <p:cNvSpPr txBox="1"/>
          <p:nvPr/>
        </p:nvSpPr>
        <p:spPr>
          <a:xfrm>
            <a:off x="868680" y="5349240"/>
            <a:ext cx="10058400" cy="1097280"/>
          </a:xfrm>
          <a:prstGeom prst="rect">
            <a:avLst/>
          </a:prstGeom>
          <a:noFill/>
        </p:spPr>
        <p:txBody>
          <a:bodyPr wrap="square" lIns="0" rIns="0" tIns="0" bIns="0">
            <a:spAutoFit/>
          </a:bodyPr>
          <a:lstStyle/>
          <a:p>
            <a:pPr algn="l">
              <a:spcBef>
                <a:spcPts val="0"/>
              </a:spcBef>
              <a:spcAft>
                <a:spcPts val="300"/>
              </a:spcAft>
            </a:pPr>
            <a:r>
              <a:rPr sz="1700" b="1" i="0">
                <a:solidFill>
                  <a:srgbClr val="FFFFFF"/>
                </a:solidFill>
                <a:latin typeface="Georgia"/>
              </a:rPr>
              <a:t>Lina María Quintero Fonseca</a:t>
            </a:r>
          </a:p>
          <a:p>
            <a:pPr algn="l">
              <a:spcBef>
                <a:spcPts val="0"/>
              </a:spcBef>
              <a:spcAft>
                <a:spcPts val="200"/>
              </a:spcAft>
            </a:pPr>
            <a:r>
              <a:rPr sz="1200" b="0" i="0">
                <a:solidFill>
                  <a:srgbClr val="DBE7DF"/>
                </a:solidFill>
                <a:latin typeface="Calibri"/>
              </a:rPr>
              <a:t>Maestría en Geomática  ·  Facultad de Ciencias Agrarias · Sede Bogotá</a:t>
            </a:r>
          </a:p>
          <a:p>
            <a:pPr algn="l">
              <a:spcBef>
                <a:spcPts val="0"/>
              </a:spcBef>
              <a:spcAft>
                <a:spcPts val="0"/>
              </a:spcAft>
            </a:pPr>
            <a:r>
              <a:rPr sz="1200" b="0" i="0">
                <a:solidFill>
                  <a:srgbClr val="DBE7DF"/>
                </a:solidFill>
                <a:latin typeface="Calibri"/>
              </a:rPr>
              <a:t>Prof. Alexys H. Rodríguez-Avellaneda   ·   github.com/linaq11/proyecto-cgsm-curso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nito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77240" y="566928"/>
            <a:ext cx="10607040" cy="320040"/>
          </a:xfrm>
          <a:prstGeom prst="rect">
            <a:avLst/>
          </a:prstGeom>
          <a:noFill/>
        </p:spPr>
        <p:txBody>
          <a:bodyPr wrap="square" lIns="0" rIns="0" tIns="0" bIns="0">
            <a:spAutoFit/>
          </a:bodyPr>
          <a:lstStyle/>
          <a:p>
            <a:pPr algn="l">
              <a:spcBef>
                <a:spcPts val="0"/>
              </a:spcBef>
              <a:spcAft>
                <a:spcPts val="0"/>
              </a:spcAft>
            </a:pPr>
            <a:r>
              <a:rPr sz="1150" b="1" i="0">
                <a:solidFill>
                  <a:srgbClr val="0F766E"/>
                </a:solidFill>
                <a:latin typeface="Calibri"/>
              </a:rPr>
              <a:t>CONTEXTO · POR QUÉ IMPORTA</a:t>
            </a:r>
          </a:p>
        </p:txBody>
      </p:sp>
      <p:sp>
        <p:nvSpPr>
          <p:cNvPr id="4" name="TextBox 3"/>
          <p:cNvSpPr txBox="1"/>
          <p:nvPr/>
        </p:nvSpPr>
        <p:spPr>
          <a:xfrm>
            <a:off x="777240" y="914400"/>
            <a:ext cx="10607040" cy="914400"/>
          </a:xfrm>
          <a:prstGeom prst="rect">
            <a:avLst/>
          </a:prstGeom>
          <a:noFill/>
        </p:spPr>
        <p:txBody>
          <a:bodyPr wrap="square" lIns="0" rIns="0" tIns="0" bIns="0">
            <a:spAutoFit/>
          </a:bodyPr>
          <a:lstStyle/>
          <a:p>
            <a:pPr algn="l">
              <a:lnSpc>
                <a:spcPct val="104000"/>
              </a:lnSpc>
              <a:spcBef>
                <a:spcPts val="0"/>
              </a:spcBef>
              <a:spcAft>
                <a:spcPts val="0"/>
              </a:spcAft>
            </a:pPr>
            <a:r>
              <a:rPr sz="3000" b="1" i="0">
                <a:solidFill>
                  <a:srgbClr val="16241D"/>
                </a:solidFill>
                <a:latin typeface="Georgia"/>
              </a:rPr>
              <a:t>La Ciénaga Grande de Santa Marta</a:t>
            </a:r>
          </a:p>
        </p:txBody>
      </p:sp>
      <p:sp>
        <p:nvSpPr>
          <p:cNvPr id="5" name="TextBox 4"/>
          <p:cNvSpPr txBox="1"/>
          <p:nvPr/>
        </p:nvSpPr>
        <p:spPr>
          <a:xfrm>
            <a:off x="777240" y="1965960"/>
            <a:ext cx="5120640" cy="1554480"/>
          </a:xfrm>
          <a:prstGeom prst="rect">
            <a:avLst/>
          </a:prstGeom>
          <a:noFill/>
        </p:spPr>
        <p:txBody>
          <a:bodyPr wrap="square" lIns="0" rIns="0" tIns="0" bIns="0">
            <a:spAutoFit/>
          </a:bodyPr>
          <a:lstStyle/>
          <a:p>
            <a:pPr algn="l">
              <a:lnSpc>
                <a:spcPct val="118000"/>
              </a:lnSpc>
              <a:spcBef>
                <a:spcPts val="0"/>
              </a:spcBef>
              <a:spcAft>
                <a:spcPts val="0"/>
              </a:spcAft>
            </a:pPr>
            <a:r>
              <a:rPr sz="1450" b="0" i="0">
                <a:solidFill>
                  <a:srgbClr val="5B6B64"/>
                </a:solidFill>
                <a:latin typeface="Calibri"/>
              </a:rPr>
              <a:t>Un sistema lagunar-costero estratégico de Colombia, sitio Ramsar y Reserva de Biosfera, con ciclos documentados de degradación y recuperación del manglar asociados a hipersalinización, variabilidad climática y cambios hidrológicos.</a:t>
            </a:r>
          </a:p>
        </p:txBody>
      </p:sp>
      <p:sp>
        <p:nvSpPr>
          <p:cNvPr id="6" name="Rounded Rectangle 5"/>
          <p:cNvSpPr/>
          <p:nvPr/>
        </p:nvSpPr>
        <p:spPr>
          <a:xfrm>
            <a:off x="777240" y="3611880"/>
            <a:ext cx="2514600" cy="96012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3721608"/>
            <a:ext cx="2203704" cy="740664"/>
          </a:xfrm>
          <a:prstGeom prst="rect">
            <a:avLst/>
          </a:prstGeom>
          <a:noFill/>
        </p:spPr>
        <p:txBody>
          <a:bodyPr wrap="square" lIns="0" rIns="0" tIns="0" bIns="0" anchor="ctr">
            <a:spAutoFit/>
          </a:bodyPr>
          <a:lstStyle/>
          <a:p>
            <a:pPr algn="l">
              <a:spcBef>
                <a:spcPts val="0"/>
              </a:spcBef>
              <a:spcAft>
                <a:spcPts val="200"/>
              </a:spcAft>
            </a:pPr>
            <a:r>
              <a:rPr sz="2300" b="1" i="0">
                <a:solidFill>
                  <a:srgbClr val="0F766E"/>
                </a:solidFill>
                <a:latin typeface="Georgia"/>
              </a:rPr>
              <a:t>835,3</a:t>
            </a:r>
            <a:r>
              <a:rPr sz="1150" b="1" i="0">
                <a:solidFill>
                  <a:srgbClr val="5B6B64"/>
                </a:solidFill>
                <a:latin typeface="Calibri"/>
              </a:rPr>
              <a:t> km²</a:t>
            </a:r>
          </a:p>
          <a:p>
            <a:pPr algn="l">
              <a:lnSpc>
                <a:spcPct val="100000"/>
              </a:lnSpc>
              <a:spcBef>
                <a:spcPts val="0"/>
              </a:spcBef>
              <a:spcAft>
                <a:spcPts val="0"/>
              </a:spcAft>
            </a:pPr>
            <a:r>
              <a:rPr sz="1000" b="0" i="0">
                <a:solidFill>
                  <a:srgbClr val="5B6B64"/>
                </a:solidFill>
                <a:latin typeface="Calibri"/>
              </a:rPr>
              <a:t>AOI acotado: SFF CGSM + VPI Salamanca</a:t>
            </a:r>
          </a:p>
        </p:txBody>
      </p:sp>
      <p:sp>
        <p:nvSpPr>
          <p:cNvPr id="8" name="Rounded Rectangle 7"/>
          <p:cNvSpPr/>
          <p:nvPr/>
        </p:nvSpPr>
        <p:spPr>
          <a:xfrm>
            <a:off x="3401568" y="3611880"/>
            <a:ext cx="2514600" cy="96012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3721608"/>
            <a:ext cx="2203704" cy="740664"/>
          </a:xfrm>
          <a:prstGeom prst="rect">
            <a:avLst/>
          </a:prstGeom>
          <a:noFill/>
        </p:spPr>
        <p:txBody>
          <a:bodyPr wrap="square" lIns="0" rIns="0" tIns="0" bIns="0" anchor="ctr">
            <a:spAutoFit/>
          </a:bodyPr>
          <a:lstStyle/>
          <a:p>
            <a:pPr algn="l">
              <a:spcBef>
                <a:spcPts val="0"/>
              </a:spcBef>
              <a:spcAft>
                <a:spcPts val="200"/>
              </a:spcAft>
            </a:pPr>
            <a:r>
              <a:rPr sz="1900" b="1" i="0">
                <a:solidFill>
                  <a:srgbClr val="0F766E"/>
                </a:solidFill>
                <a:latin typeface="Georgia"/>
              </a:rPr>
              <a:t>2013–2025</a:t>
            </a:r>
          </a:p>
          <a:p>
            <a:pPr algn="l">
              <a:lnSpc>
                <a:spcPct val="100000"/>
              </a:lnSpc>
              <a:spcBef>
                <a:spcPts val="0"/>
              </a:spcBef>
              <a:spcAft>
                <a:spcPts val="0"/>
              </a:spcAft>
            </a:pPr>
            <a:r>
              <a:rPr sz="1000" b="0" i="0">
                <a:solidFill>
                  <a:srgbClr val="5B6B64"/>
                </a:solidFill>
                <a:latin typeface="Calibri"/>
              </a:rPr>
              <a:t>Serie multisensor analizada</a:t>
            </a:r>
          </a:p>
        </p:txBody>
      </p:sp>
      <p:sp>
        <p:nvSpPr>
          <p:cNvPr id="10" name="Rounded Rectangle 9"/>
          <p:cNvSpPr/>
          <p:nvPr/>
        </p:nvSpPr>
        <p:spPr>
          <a:xfrm>
            <a:off x="777240" y="4681728"/>
            <a:ext cx="2514600" cy="96012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4791456"/>
            <a:ext cx="2203704" cy="740664"/>
          </a:xfrm>
          <a:prstGeom prst="rect">
            <a:avLst/>
          </a:prstGeom>
          <a:noFill/>
        </p:spPr>
        <p:txBody>
          <a:bodyPr wrap="square" lIns="0" rIns="0" tIns="0" bIns="0" anchor="ctr">
            <a:spAutoFit/>
          </a:bodyPr>
          <a:lstStyle/>
          <a:p>
            <a:pPr algn="l">
              <a:spcBef>
                <a:spcPts val="0"/>
              </a:spcBef>
              <a:spcAft>
                <a:spcPts val="200"/>
              </a:spcAft>
            </a:pPr>
            <a:r>
              <a:rPr sz="2300" b="1" i="0">
                <a:solidFill>
                  <a:srgbClr val="0F766E"/>
                </a:solidFill>
                <a:latin typeface="Georgia"/>
              </a:rPr>
              <a:t>Ramsar</a:t>
            </a:r>
            <a:r>
              <a:rPr sz="1150" b="1" i="0">
                <a:solidFill>
                  <a:srgbClr val="5B6B64"/>
                </a:solidFill>
                <a:latin typeface="Calibri"/>
              </a:rPr>
              <a:t> 1998</a:t>
            </a:r>
          </a:p>
          <a:p>
            <a:pPr algn="l">
              <a:lnSpc>
                <a:spcPct val="100000"/>
              </a:lnSpc>
              <a:spcBef>
                <a:spcPts val="0"/>
              </a:spcBef>
              <a:spcAft>
                <a:spcPts val="0"/>
              </a:spcAft>
            </a:pPr>
            <a:r>
              <a:rPr sz="1000" b="0" i="0">
                <a:solidFill>
                  <a:srgbClr val="5B6B64"/>
                </a:solidFill>
                <a:latin typeface="Calibri"/>
              </a:rPr>
              <a:t>Reserva de Biosfera UNESCO</a:t>
            </a:r>
          </a:p>
        </p:txBody>
      </p:sp>
      <p:sp>
        <p:nvSpPr>
          <p:cNvPr id="12" name="Rounded Rectangle 11"/>
          <p:cNvSpPr/>
          <p:nvPr/>
        </p:nvSpPr>
        <p:spPr>
          <a:xfrm>
            <a:off x="3401568" y="4681728"/>
            <a:ext cx="2514600" cy="96012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4791456"/>
            <a:ext cx="2203704" cy="740664"/>
          </a:xfrm>
          <a:prstGeom prst="rect">
            <a:avLst/>
          </a:prstGeom>
          <a:noFill/>
        </p:spPr>
        <p:txBody>
          <a:bodyPr wrap="square" lIns="0" rIns="0" tIns="0" bIns="0" anchor="ctr">
            <a:spAutoFit/>
          </a:bodyPr>
          <a:lstStyle/>
          <a:p>
            <a:pPr algn="l">
              <a:spcBef>
                <a:spcPts val="0"/>
              </a:spcBef>
              <a:spcAft>
                <a:spcPts val="200"/>
              </a:spcAft>
            </a:pPr>
            <a:r>
              <a:rPr sz="2000" b="1" i="0">
                <a:solidFill>
                  <a:srgbClr val="0F766E"/>
                </a:solidFill>
                <a:latin typeface="Georgia"/>
              </a:rPr>
              <a:t>ENSO</a:t>
            </a:r>
          </a:p>
          <a:p>
            <a:pPr algn="l">
              <a:lnSpc>
                <a:spcPct val="100000"/>
              </a:lnSpc>
              <a:spcBef>
                <a:spcPts val="0"/>
              </a:spcBef>
              <a:spcAft>
                <a:spcPts val="0"/>
              </a:spcAft>
            </a:pPr>
            <a:r>
              <a:rPr sz="1000" b="0" i="0">
                <a:solidFill>
                  <a:srgbClr val="5B6B64"/>
                </a:solidFill>
                <a:latin typeface="Calibri"/>
              </a:rPr>
              <a:t>El Niño 2015–16 · La Niña 2020–22</a:t>
            </a:r>
          </a:p>
        </p:txBody>
      </p:sp>
      <p:sp>
        <p:nvSpPr>
          <p:cNvPr id="14" name="Rounded Rectangle 13"/>
          <p:cNvSpPr/>
          <p:nvPr/>
        </p:nvSpPr>
        <p:spPr>
          <a:xfrm>
            <a:off x="6263640" y="1965960"/>
            <a:ext cx="5120640" cy="365760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194560"/>
            <a:ext cx="4663440" cy="365760"/>
          </a:xfrm>
          <a:prstGeom prst="rect">
            <a:avLst/>
          </a:prstGeom>
          <a:noFill/>
        </p:spPr>
        <p:txBody>
          <a:bodyPr wrap="square" lIns="0" rIns="0" tIns="0" bIns="0">
            <a:spAutoFit/>
          </a:bodyPr>
          <a:lstStyle/>
          <a:p>
            <a:pPr algn="l">
              <a:spcBef>
                <a:spcPts val="0"/>
              </a:spcBef>
              <a:spcAft>
                <a:spcPts val="0"/>
              </a:spcAft>
            </a:pPr>
            <a:r>
              <a:rPr sz="1500" b="1" i="0">
                <a:solidFill>
                  <a:srgbClr val="16241D"/>
                </a:solidFill>
                <a:latin typeface="Calibri"/>
              </a:rPr>
              <a:t>El reto de monitoreo</a:t>
            </a:r>
          </a:p>
        </p:txBody>
      </p:sp>
      <p:sp>
        <p:nvSpPr>
          <p:cNvPr id="16" name="TextBox 15"/>
          <p:cNvSpPr txBox="1"/>
          <p:nvPr/>
        </p:nvSpPr>
        <p:spPr>
          <a:xfrm>
            <a:off x="6492240" y="2743200"/>
            <a:ext cx="4709160" cy="2011680"/>
          </a:xfrm>
          <a:prstGeom prst="rect">
            <a:avLst/>
          </a:prstGeom>
          <a:noFill/>
        </p:spPr>
        <p:txBody>
          <a:bodyPr wrap="square" lIns="0" rIns="0" tIns="0" bIns="0">
            <a:spAutoFit/>
          </a:bodyPr>
          <a:lstStyle/>
          <a:p>
            <a:pPr>
              <a:lnSpc>
                <a:spcPct val="100000"/>
              </a:lnSpc>
              <a:spcBef>
                <a:spcPts val="0"/>
              </a:spcBef>
              <a:spcAft>
                <a:spcPts val="900"/>
              </a:spcAft>
            </a:pPr>
            <a:r>
              <a:rPr sz="1200" b="1">
                <a:solidFill>
                  <a:srgbClr val="0F766E"/>
                </a:solidFill>
                <a:latin typeface="Calibri"/>
              </a:rPr>
              <a:t>•  </a:t>
            </a:r>
            <a:r>
              <a:rPr sz="1200">
                <a:solidFill>
                  <a:srgbClr val="5B6B64"/>
                </a:solidFill>
                <a:latin typeface="Calibri"/>
              </a:rPr>
              <a:t>Existen datos satelitales frecuentes, pero no siempre se integran en productos reproducibles.</a:t>
            </a:r>
          </a:p>
          <a:p>
            <a:pPr>
              <a:lnSpc>
                <a:spcPct val="100000"/>
              </a:lnSpc>
              <a:spcBef>
                <a:spcPts val="0"/>
              </a:spcBef>
              <a:spcAft>
                <a:spcPts val="900"/>
              </a:spcAft>
            </a:pPr>
            <a:r>
              <a:rPr sz="1200" b="1">
                <a:solidFill>
                  <a:srgbClr val="0F766E"/>
                </a:solidFill>
                <a:latin typeface="Calibri"/>
              </a:rPr>
              <a:t>•  </a:t>
            </a:r>
            <a:r>
              <a:rPr sz="1200">
                <a:solidFill>
                  <a:srgbClr val="5B6B64"/>
                </a:solidFill>
                <a:latin typeface="Calibri"/>
              </a:rPr>
              <a:t>La nubosidad tropical limita la continuidad de la observación óptica.</a:t>
            </a:r>
          </a:p>
          <a:p>
            <a:pPr>
              <a:lnSpc>
                <a:spcPct val="100000"/>
              </a:lnSpc>
              <a:spcBef>
                <a:spcPts val="0"/>
              </a:spcBef>
              <a:spcAft>
                <a:spcPts val="900"/>
              </a:spcAft>
            </a:pPr>
            <a:r>
              <a:rPr sz="1200" b="1">
                <a:solidFill>
                  <a:srgbClr val="0F766E"/>
                </a:solidFill>
                <a:latin typeface="Calibri"/>
              </a:rPr>
              <a:t>•  </a:t>
            </a:r>
            <a:r>
              <a:rPr sz="1200">
                <a:solidFill>
                  <a:srgbClr val="5B6B64"/>
                </a:solidFill>
                <a:latin typeface="Calibri"/>
              </a:rPr>
              <a:t>El radar aporta continuidad, pero requiere integración con datos ópticos y climáticos.</a:t>
            </a:r>
          </a:p>
        </p:txBody>
      </p:sp>
      <p:sp>
        <p:nvSpPr>
          <p:cNvPr id="17" name="Rounded Rectangle 16"/>
          <p:cNvSpPr/>
          <p:nvPr/>
        </p:nvSpPr>
        <p:spPr>
          <a:xfrm>
            <a:off x="6492240" y="4800600"/>
            <a:ext cx="4663440" cy="713232"/>
          </a:xfrm>
          <a:prstGeom prst="roundRect">
            <a:avLst>
              <a:gd name="adj" fmla="val 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3408" y="4937760"/>
            <a:ext cx="4261104" cy="457200"/>
          </a:xfrm>
          <a:prstGeom prst="rect">
            <a:avLst/>
          </a:prstGeom>
          <a:noFill/>
        </p:spPr>
        <p:txBody>
          <a:bodyPr wrap="square" lIns="0" rIns="0" tIns="0" bIns="0" anchor="ctr">
            <a:spAutoFit/>
          </a:bodyPr>
          <a:lstStyle/>
          <a:p>
            <a:pPr algn="l">
              <a:lnSpc>
                <a:spcPct val="104000"/>
              </a:lnSpc>
              <a:spcBef>
                <a:spcPts val="0"/>
              </a:spcBef>
              <a:spcAft>
                <a:spcPts val="0"/>
              </a:spcAft>
            </a:pPr>
            <a:r>
              <a:rPr sz="1150" b="1" i="0">
                <a:solidFill>
                  <a:srgbClr val="16241D"/>
                </a:solidFill>
                <a:latin typeface="Calibri"/>
              </a:rPr>
              <a:t>La mortandad de manglar registrada en 2020 </a:t>
            </a:r>
            <a:r>
              <a:rPr sz="1150" b="0" i="0">
                <a:solidFill>
                  <a:srgbClr val="5B6B64"/>
                </a:solidFill>
                <a:latin typeface="Calibri"/>
              </a:rPr>
              <a:t>evidencia la necesidad de seguimiento espacial y temporal continuo.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nito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77240" y="566928"/>
            <a:ext cx="10607040" cy="320040"/>
          </a:xfrm>
          <a:prstGeom prst="rect">
            <a:avLst/>
          </a:prstGeom>
          <a:noFill/>
        </p:spPr>
        <p:txBody>
          <a:bodyPr wrap="square" lIns="0" rIns="0" tIns="0" bIns="0">
            <a:spAutoFit/>
          </a:bodyPr>
          <a:lstStyle/>
          <a:p>
            <a:pPr algn="l">
              <a:spcBef>
                <a:spcPts val="0"/>
              </a:spcBef>
              <a:spcAft>
                <a:spcPts val="0"/>
              </a:spcAft>
            </a:pPr>
            <a:r>
              <a:rPr sz="1150" b="1" i="0">
                <a:solidFill>
                  <a:srgbClr val="0F766E"/>
                </a:solidFill>
                <a:latin typeface="Calibri"/>
              </a:rPr>
              <a:t>JUSTIFICACIÓN · LA OPORTUNIDAD</a:t>
            </a:r>
          </a:p>
        </p:txBody>
      </p:sp>
      <p:sp>
        <p:nvSpPr>
          <p:cNvPr id="4" name="TextBox 3"/>
          <p:cNvSpPr txBox="1"/>
          <p:nvPr/>
        </p:nvSpPr>
        <p:spPr>
          <a:xfrm>
            <a:off x="777240" y="914400"/>
            <a:ext cx="10607040" cy="914400"/>
          </a:xfrm>
          <a:prstGeom prst="rect">
            <a:avLst/>
          </a:prstGeom>
          <a:noFill/>
        </p:spPr>
        <p:txBody>
          <a:bodyPr wrap="square" lIns="0" rIns="0" tIns="0" bIns="0">
            <a:spAutoFit/>
          </a:bodyPr>
          <a:lstStyle/>
          <a:p>
            <a:pPr algn="l">
              <a:lnSpc>
                <a:spcPct val="104000"/>
              </a:lnSpc>
              <a:spcBef>
                <a:spcPts val="0"/>
              </a:spcBef>
              <a:spcAft>
                <a:spcPts val="0"/>
              </a:spcAft>
            </a:pPr>
            <a:r>
              <a:rPr sz="3000" b="1" i="0">
                <a:solidFill>
                  <a:srgbClr val="16241D"/>
                </a:solidFill>
                <a:latin typeface="Georgia"/>
              </a:rPr>
              <a:t>El vacío no es de datos, es de integración</a:t>
            </a:r>
          </a:p>
        </p:txBody>
      </p:sp>
      <p:sp>
        <p:nvSpPr>
          <p:cNvPr id="5" name="Rounded Rectangle 4"/>
          <p:cNvSpPr/>
          <p:nvPr/>
        </p:nvSpPr>
        <p:spPr>
          <a:xfrm>
            <a:off x="777240" y="1965960"/>
            <a:ext cx="3456432" cy="214884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112264"/>
            <a:ext cx="3017520" cy="457200"/>
          </a:xfrm>
          <a:prstGeom prst="rect">
            <a:avLst/>
          </a:prstGeom>
          <a:noFill/>
        </p:spPr>
        <p:txBody>
          <a:bodyPr wrap="square" lIns="0" rIns="0" tIns="0" bIns="0">
            <a:spAutoFit/>
          </a:bodyPr>
          <a:lstStyle/>
          <a:p>
            <a:pPr algn="l">
              <a:spcBef>
                <a:spcPts val="0"/>
              </a:spcBef>
              <a:spcAft>
                <a:spcPts val="0"/>
              </a:spcAft>
            </a:pPr>
            <a:r>
              <a:rPr sz="2000" b="1" i="0">
                <a:solidFill>
                  <a:srgbClr val="0F766E"/>
                </a:solidFill>
                <a:latin typeface="Georgia"/>
              </a:rPr>
              <a:t>1</a:t>
            </a:r>
          </a:p>
        </p:txBody>
      </p:sp>
      <p:sp>
        <p:nvSpPr>
          <p:cNvPr id="7" name="TextBox 6"/>
          <p:cNvSpPr txBox="1"/>
          <p:nvPr/>
        </p:nvSpPr>
        <p:spPr>
          <a:xfrm>
            <a:off x="996695" y="2642615"/>
            <a:ext cx="3017520" cy="1325880"/>
          </a:xfrm>
          <a:prstGeom prst="rect">
            <a:avLst/>
          </a:prstGeom>
          <a:noFill/>
        </p:spPr>
        <p:txBody>
          <a:bodyPr wrap="square" lIns="0" rIns="0" tIns="0" bIns="0">
            <a:spAutoFit/>
          </a:bodyPr>
          <a:lstStyle/>
          <a:p>
            <a:pPr algn="l">
              <a:lnSpc>
                <a:spcPct val="100000"/>
              </a:lnSpc>
              <a:spcBef>
                <a:spcPts val="0"/>
              </a:spcBef>
              <a:spcAft>
                <a:spcPts val="300"/>
              </a:spcAft>
            </a:pPr>
            <a:r>
              <a:rPr sz="1300" b="1" i="0">
                <a:solidFill>
                  <a:srgbClr val="16241D"/>
                </a:solidFill>
                <a:latin typeface="Calibri"/>
              </a:rPr>
              <a:t>Óptico + radar</a:t>
            </a:r>
          </a:p>
          <a:p>
            <a:pPr algn="l">
              <a:lnSpc>
                <a:spcPct val="104000"/>
              </a:lnSpc>
              <a:spcBef>
                <a:spcPts val="0"/>
              </a:spcBef>
              <a:spcAft>
                <a:spcPts val="0"/>
              </a:spcAft>
            </a:pPr>
            <a:r>
              <a:rPr sz="1100" b="0" i="0">
                <a:solidFill>
                  <a:srgbClr val="5B6B64"/>
                </a:solidFill>
                <a:latin typeface="Calibri"/>
              </a:rPr>
              <a:t>La observación óptica y SAR suele analizarse por separado; falta integrarlas en una serie consistente.</a:t>
            </a:r>
          </a:p>
        </p:txBody>
      </p:sp>
      <p:sp>
        <p:nvSpPr>
          <p:cNvPr id="8" name="Rounded Rectangle 7"/>
          <p:cNvSpPr/>
          <p:nvPr/>
        </p:nvSpPr>
        <p:spPr>
          <a:xfrm>
            <a:off x="4389120" y="1965960"/>
            <a:ext cx="3456432" cy="214884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2112264"/>
            <a:ext cx="3017520" cy="457200"/>
          </a:xfrm>
          <a:prstGeom prst="rect">
            <a:avLst/>
          </a:prstGeom>
          <a:noFill/>
        </p:spPr>
        <p:txBody>
          <a:bodyPr wrap="square" lIns="0" rIns="0" tIns="0" bIns="0">
            <a:spAutoFit/>
          </a:bodyPr>
          <a:lstStyle/>
          <a:p>
            <a:pPr algn="l">
              <a:spcBef>
                <a:spcPts val="0"/>
              </a:spcBef>
              <a:spcAft>
                <a:spcPts val="0"/>
              </a:spcAft>
            </a:pPr>
            <a:r>
              <a:rPr sz="2000" b="1" i="0">
                <a:solidFill>
                  <a:srgbClr val="0F766E"/>
                </a:solidFill>
                <a:latin typeface="Georgia"/>
              </a:rPr>
              <a:t>2</a:t>
            </a:r>
          </a:p>
        </p:txBody>
      </p:sp>
      <p:sp>
        <p:nvSpPr>
          <p:cNvPr id="10" name="TextBox 9"/>
          <p:cNvSpPr txBox="1"/>
          <p:nvPr/>
        </p:nvSpPr>
        <p:spPr>
          <a:xfrm>
            <a:off x="4608576" y="2642615"/>
            <a:ext cx="3017520" cy="1325880"/>
          </a:xfrm>
          <a:prstGeom prst="rect">
            <a:avLst/>
          </a:prstGeom>
          <a:noFill/>
        </p:spPr>
        <p:txBody>
          <a:bodyPr wrap="square" lIns="0" rIns="0" tIns="0" bIns="0">
            <a:spAutoFit/>
          </a:bodyPr>
          <a:lstStyle/>
          <a:p>
            <a:pPr algn="l">
              <a:lnSpc>
                <a:spcPct val="100000"/>
              </a:lnSpc>
              <a:spcBef>
                <a:spcPts val="0"/>
              </a:spcBef>
              <a:spcAft>
                <a:spcPts val="300"/>
              </a:spcAft>
            </a:pPr>
            <a:r>
              <a:rPr sz="1300" b="1" i="0">
                <a:solidFill>
                  <a:srgbClr val="16241D"/>
                </a:solidFill>
                <a:latin typeface="Calibri"/>
              </a:rPr>
              <a:t>Pipeline reproducible</a:t>
            </a:r>
          </a:p>
          <a:p>
            <a:pPr algn="l">
              <a:lnSpc>
                <a:spcPct val="104000"/>
              </a:lnSpc>
              <a:spcBef>
                <a:spcPts val="0"/>
              </a:spcBef>
              <a:spcAft>
                <a:spcPts val="0"/>
              </a:spcAft>
            </a:pPr>
            <a:r>
              <a:rPr sz="1100" b="0" i="0">
                <a:solidFill>
                  <a:srgbClr val="5B6B64"/>
                </a:solidFill>
                <a:latin typeface="Calibri"/>
              </a:rPr>
              <a:t>Segmentación, fragmentación, validación y quiebres temporales requieren una arquitectura ejecutable común.</a:t>
            </a:r>
          </a:p>
        </p:txBody>
      </p:sp>
      <p:sp>
        <p:nvSpPr>
          <p:cNvPr id="11" name="Rounded Rectangle 10"/>
          <p:cNvSpPr/>
          <p:nvPr/>
        </p:nvSpPr>
        <p:spPr>
          <a:xfrm>
            <a:off x="8001000" y="1965960"/>
            <a:ext cx="3456432" cy="214884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12264"/>
            <a:ext cx="3017520" cy="457200"/>
          </a:xfrm>
          <a:prstGeom prst="rect">
            <a:avLst/>
          </a:prstGeom>
          <a:noFill/>
        </p:spPr>
        <p:txBody>
          <a:bodyPr wrap="square" lIns="0" rIns="0" tIns="0" bIns="0">
            <a:spAutoFit/>
          </a:bodyPr>
          <a:lstStyle/>
          <a:p>
            <a:pPr algn="l">
              <a:spcBef>
                <a:spcPts val="0"/>
              </a:spcBef>
              <a:spcAft>
                <a:spcPts val="0"/>
              </a:spcAft>
            </a:pPr>
            <a:r>
              <a:rPr sz="2000" b="1" i="0">
                <a:solidFill>
                  <a:srgbClr val="0F766E"/>
                </a:solidFill>
                <a:latin typeface="Georgia"/>
              </a:rPr>
              <a:t>3</a:t>
            </a:r>
          </a:p>
        </p:txBody>
      </p:sp>
      <p:sp>
        <p:nvSpPr>
          <p:cNvPr id="13" name="TextBox 12"/>
          <p:cNvSpPr txBox="1"/>
          <p:nvPr/>
        </p:nvSpPr>
        <p:spPr>
          <a:xfrm>
            <a:off x="8220456" y="2642615"/>
            <a:ext cx="3017520" cy="1325880"/>
          </a:xfrm>
          <a:prstGeom prst="rect">
            <a:avLst/>
          </a:prstGeom>
          <a:noFill/>
        </p:spPr>
        <p:txBody>
          <a:bodyPr wrap="square" lIns="0" rIns="0" tIns="0" bIns="0">
            <a:spAutoFit/>
          </a:bodyPr>
          <a:lstStyle/>
          <a:p>
            <a:pPr algn="l">
              <a:lnSpc>
                <a:spcPct val="100000"/>
              </a:lnSpc>
              <a:spcBef>
                <a:spcPts val="0"/>
              </a:spcBef>
              <a:spcAft>
                <a:spcPts val="300"/>
              </a:spcAft>
            </a:pPr>
            <a:r>
              <a:rPr sz="1300" b="1" i="0">
                <a:solidFill>
                  <a:srgbClr val="16241D"/>
                </a:solidFill>
                <a:latin typeface="Calibri"/>
              </a:rPr>
              <a:t>Clima e hidrología</a:t>
            </a:r>
          </a:p>
          <a:p>
            <a:pPr algn="l">
              <a:lnSpc>
                <a:spcPct val="104000"/>
              </a:lnSpc>
              <a:spcBef>
                <a:spcPts val="0"/>
              </a:spcBef>
              <a:spcAft>
                <a:spcPts val="0"/>
              </a:spcAft>
            </a:pPr>
            <a:r>
              <a:rPr sz="1100" b="0" i="0">
                <a:solidFill>
                  <a:srgbClr val="5B6B64"/>
                </a:solidFill>
                <a:latin typeface="Calibri"/>
              </a:rPr>
              <a:t>ENSO, caudal y precipitación deben cruzarse con la respuesta espacial del manglar.</a:t>
            </a:r>
          </a:p>
        </p:txBody>
      </p:sp>
      <p:sp>
        <p:nvSpPr>
          <p:cNvPr id="14" name="Rounded Rectangle 13"/>
          <p:cNvSpPr/>
          <p:nvPr/>
        </p:nvSpPr>
        <p:spPr>
          <a:xfrm>
            <a:off x="777240" y="4343400"/>
            <a:ext cx="10607040" cy="1417320"/>
          </a:xfrm>
          <a:prstGeom prst="roundRect">
            <a:avLst>
              <a:gd name="adj" fmla="val 6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498848"/>
            <a:ext cx="10058400" cy="292608"/>
          </a:xfrm>
          <a:prstGeom prst="rect">
            <a:avLst/>
          </a:prstGeom>
          <a:noFill/>
        </p:spPr>
        <p:txBody>
          <a:bodyPr wrap="square" lIns="0" rIns="0" tIns="0" bIns="0">
            <a:spAutoFit/>
          </a:bodyPr>
          <a:lstStyle/>
          <a:p>
            <a:pPr algn="l">
              <a:spcBef>
                <a:spcPts val="0"/>
              </a:spcBef>
              <a:spcAft>
                <a:spcPts val="0"/>
              </a:spcAft>
            </a:pPr>
            <a:r>
              <a:rPr sz="1100" b="1" i="0">
                <a:solidFill>
                  <a:srgbClr val="F59E0B"/>
                </a:solidFill>
                <a:latin typeface="Calibri"/>
              </a:rPr>
              <a:t>PREGUNTA DE INVESTIGACIÓN</a:t>
            </a:r>
          </a:p>
        </p:txBody>
      </p:sp>
      <p:sp>
        <p:nvSpPr>
          <p:cNvPr id="16" name="TextBox 15"/>
          <p:cNvSpPr txBox="1"/>
          <p:nvPr/>
        </p:nvSpPr>
        <p:spPr>
          <a:xfrm>
            <a:off x="1097280" y="4828032"/>
            <a:ext cx="10058400" cy="868680"/>
          </a:xfrm>
          <a:prstGeom prst="rect">
            <a:avLst/>
          </a:prstGeom>
          <a:noFill/>
        </p:spPr>
        <p:txBody>
          <a:bodyPr wrap="square" lIns="0" rIns="0" tIns="0" bIns="0" anchor="ctr">
            <a:spAutoFit/>
          </a:bodyPr>
          <a:lstStyle/>
          <a:p>
            <a:pPr algn="l">
              <a:lnSpc>
                <a:spcPct val="120000"/>
              </a:lnSpc>
              <a:spcBef>
                <a:spcPts val="0"/>
              </a:spcBef>
              <a:spcAft>
                <a:spcPts val="0"/>
              </a:spcAft>
            </a:pPr>
            <a:r>
              <a:rPr sz="1650" b="0" i="0">
                <a:solidFill>
                  <a:srgbClr val="FFFFFF"/>
                </a:solidFill>
                <a:latin typeface="Georgia"/>
              </a:rPr>
              <a:t>¿Cómo variaron la cobertura, la fragmentación y el vigor del manglar de la CGSM entre 2013 y 2025, y cómo se relacionan esas perturbaciones con forzamientos climáticos e hidrológicos asociados al ENSO?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nito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77240" y="566928"/>
            <a:ext cx="10607040" cy="320040"/>
          </a:xfrm>
          <a:prstGeom prst="rect">
            <a:avLst/>
          </a:prstGeom>
          <a:noFill/>
        </p:spPr>
        <p:txBody>
          <a:bodyPr wrap="square" lIns="0" rIns="0" tIns="0" bIns="0">
            <a:spAutoFit/>
          </a:bodyPr>
          <a:lstStyle/>
          <a:p>
            <a:pPr algn="l">
              <a:spcBef>
                <a:spcPts val="0"/>
              </a:spcBef>
              <a:spcAft>
                <a:spcPts val="0"/>
              </a:spcAft>
            </a:pPr>
            <a:r>
              <a:rPr sz="1150" b="1" i="0">
                <a:solidFill>
                  <a:srgbClr val="0F766E"/>
                </a:solidFill>
                <a:latin typeface="Calibri"/>
              </a:rPr>
              <a:t>OBJETIVOS · UNA META, CINCO PASOS</a:t>
            </a:r>
          </a:p>
        </p:txBody>
      </p:sp>
      <p:sp>
        <p:nvSpPr>
          <p:cNvPr id="4" name="TextBox 3"/>
          <p:cNvSpPr txBox="1"/>
          <p:nvPr/>
        </p:nvSpPr>
        <p:spPr>
          <a:xfrm>
            <a:off x="777240" y="914400"/>
            <a:ext cx="10607040" cy="914400"/>
          </a:xfrm>
          <a:prstGeom prst="rect">
            <a:avLst/>
          </a:prstGeom>
          <a:noFill/>
        </p:spPr>
        <p:txBody>
          <a:bodyPr wrap="square" lIns="0" rIns="0" tIns="0" bIns="0">
            <a:spAutoFit/>
          </a:bodyPr>
          <a:lstStyle/>
          <a:p>
            <a:pPr algn="l">
              <a:lnSpc>
                <a:spcPct val="104000"/>
              </a:lnSpc>
              <a:spcBef>
                <a:spcPts val="0"/>
              </a:spcBef>
              <a:spcAft>
                <a:spcPts val="0"/>
              </a:spcAft>
            </a:pPr>
            <a:r>
              <a:rPr sz="3000" b="1" i="0">
                <a:solidFill>
                  <a:srgbClr val="16241D"/>
                </a:solidFill>
                <a:latin typeface="Georgia"/>
              </a:rPr>
              <a:t>Qué construye el pipeline</a:t>
            </a:r>
          </a:p>
        </p:txBody>
      </p:sp>
      <p:sp>
        <p:nvSpPr>
          <p:cNvPr id="5" name="Rounded Rectangle 4"/>
          <p:cNvSpPr/>
          <p:nvPr/>
        </p:nvSpPr>
        <p:spPr>
          <a:xfrm>
            <a:off x="777240" y="1965960"/>
            <a:ext cx="4297680" cy="3794760"/>
          </a:xfrm>
          <a:prstGeom prst="roundRect">
            <a:avLst>
              <a:gd name="adj" fmla="val 6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2240280"/>
            <a:ext cx="3822191" cy="292608"/>
          </a:xfrm>
          <a:prstGeom prst="rect">
            <a:avLst/>
          </a:prstGeom>
          <a:noFill/>
        </p:spPr>
        <p:txBody>
          <a:bodyPr wrap="square" lIns="0" rIns="0" tIns="0" bIns="0">
            <a:spAutoFit/>
          </a:bodyPr>
          <a:lstStyle/>
          <a:p>
            <a:pPr algn="l">
              <a:spcBef>
                <a:spcPts val="0"/>
              </a:spcBef>
              <a:spcAft>
                <a:spcPts val="0"/>
              </a:spcAft>
            </a:pPr>
            <a:r>
              <a:rPr sz="1100" b="1" i="0">
                <a:solidFill>
                  <a:srgbClr val="F59E0B"/>
                </a:solidFill>
                <a:latin typeface="Calibri"/>
              </a:rPr>
              <a:t>OBJETIVO GENERAL</a:t>
            </a:r>
          </a:p>
        </p:txBody>
      </p:sp>
      <p:sp>
        <p:nvSpPr>
          <p:cNvPr id="7" name="TextBox 6"/>
          <p:cNvSpPr txBox="1"/>
          <p:nvPr/>
        </p:nvSpPr>
        <p:spPr>
          <a:xfrm>
            <a:off x="1024128" y="2697480"/>
            <a:ext cx="3822191" cy="2194560"/>
          </a:xfrm>
          <a:prstGeom prst="rect">
            <a:avLst/>
          </a:prstGeom>
          <a:noFill/>
        </p:spPr>
        <p:txBody>
          <a:bodyPr wrap="square" lIns="0" rIns="0" tIns="0" bIns="0">
            <a:spAutoFit/>
          </a:bodyPr>
          <a:lstStyle/>
          <a:p>
            <a:pPr algn="l">
              <a:lnSpc>
                <a:spcPct val="128000"/>
              </a:lnSpc>
              <a:spcBef>
                <a:spcPts val="0"/>
              </a:spcBef>
              <a:spcAft>
                <a:spcPts val="800"/>
              </a:spcAft>
            </a:pPr>
            <a:r>
              <a:rPr sz="1700" b="0" i="0">
                <a:solidFill>
                  <a:srgbClr val="FFFFFF"/>
                </a:solidFill>
                <a:latin typeface="Georgia"/>
              </a:rPr>
              <a:t>Desarrollar un pipeline multilenguaje, reproducible e interoperable para monitorear la dinámica del manglar de la CGSM entre 2013 y 2025.</a:t>
            </a:r>
          </a:p>
          <a:p>
            <a:pPr algn="l">
              <a:lnSpc>
                <a:spcPct val="110000"/>
              </a:lnSpc>
              <a:spcBef>
                <a:spcPts val="0"/>
              </a:spcBef>
              <a:spcAft>
                <a:spcPts val="0"/>
              </a:spcAft>
            </a:pPr>
            <a:r>
              <a:rPr sz="1150" b="0" i="0">
                <a:solidFill>
                  <a:srgbClr val="DBE7DF"/>
                </a:solidFill>
                <a:latin typeface="Calibri"/>
              </a:rPr>
              <a:t>Transferible a otros humedales costeros tropicales.</a:t>
            </a:r>
          </a:p>
        </p:txBody>
      </p:sp>
      <p:sp>
        <p:nvSpPr>
          <p:cNvPr id="8" name="Rounded Rectangle 7"/>
          <p:cNvSpPr/>
          <p:nvPr/>
        </p:nvSpPr>
        <p:spPr>
          <a:xfrm>
            <a:off x="5349240" y="1965960"/>
            <a:ext cx="6035040" cy="694944"/>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349240" y="1965960"/>
            <a:ext cx="73152" cy="694944"/>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05272" y="2093976"/>
            <a:ext cx="5614416" cy="438912"/>
          </a:xfrm>
          <a:prstGeom prst="rect">
            <a:avLst/>
          </a:prstGeom>
          <a:noFill/>
        </p:spPr>
        <p:txBody>
          <a:bodyPr wrap="square" lIns="0" rIns="0" tIns="0" bIns="0" anchor="ctr">
            <a:spAutoFit/>
          </a:bodyPr>
          <a:lstStyle/>
          <a:p>
            <a:pPr algn="l">
              <a:lnSpc>
                <a:spcPct val="100000"/>
              </a:lnSpc>
              <a:spcBef>
                <a:spcPts val="0"/>
              </a:spcBef>
              <a:spcAft>
                <a:spcPts val="300"/>
              </a:spcAft>
            </a:pPr>
            <a:r>
              <a:rPr sz="1300" b="1" i="0">
                <a:solidFill>
                  <a:srgbClr val="16241D"/>
                </a:solidFill>
                <a:latin typeface="Calibri"/>
              </a:rPr>
              <a:t>1 · Datacube multitemporal</a:t>
            </a:r>
          </a:p>
          <a:p>
            <a:pPr algn="l">
              <a:lnSpc>
                <a:spcPct val="104000"/>
              </a:lnSpc>
              <a:spcBef>
                <a:spcPts val="0"/>
              </a:spcBef>
              <a:spcAft>
                <a:spcPts val="0"/>
              </a:spcAft>
            </a:pPr>
            <a:r>
              <a:rPr sz="1100" b="0" i="0">
                <a:solidFill>
                  <a:srgbClr val="5B6B64"/>
                </a:solidFill>
                <a:latin typeface="Calibri"/>
              </a:rPr>
              <a:t>Construir índices NDVI, NDWI y CMRI a partir de Landsat 8/9 y Sentinel-2.</a:t>
            </a:r>
          </a:p>
        </p:txBody>
      </p:sp>
      <p:sp>
        <p:nvSpPr>
          <p:cNvPr id="11" name="Rounded Rectangle 10"/>
          <p:cNvSpPr/>
          <p:nvPr/>
        </p:nvSpPr>
        <p:spPr>
          <a:xfrm>
            <a:off x="5349240" y="2734056"/>
            <a:ext cx="6035040" cy="694944"/>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349240" y="2734056"/>
            <a:ext cx="73152" cy="694944"/>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05272" y="2862072"/>
            <a:ext cx="5614416" cy="438912"/>
          </a:xfrm>
          <a:prstGeom prst="rect">
            <a:avLst/>
          </a:prstGeom>
          <a:noFill/>
        </p:spPr>
        <p:txBody>
          <a:bodyPr wrap="square" lIns="0" rIns="0" tIns="0" bIns="0" anchor="ctr">
            <a:spAutoFit/>
          </a:bodyPr>
          <a:lstStyle/>
          <a:p>
            <a:pPr algn="l">
              <a:lnSpc>
                <a:spcPct val="100000"/>
              </a:lnSpc>
              <a:spcBef>
                <a:spcPts val="0"/>
              </a:spcBef>
              <a:spcAft>
                <a:spcPts val="300"/>
              </a:spcAft>
            </a:pPr>
            <a:r>
              <a:rPr sz="1300" b="1" i="0">
                <a:solidFill>
                  <a:srgbClr val="16241D"/>
                </a:solidFill>
                <a:latin typeface="Calibri"/>
              </a:rPr>
              <a:t>2 · Degradación y recuperación</a:t>
            </a:r>
          </a:p>
          <a:p>
            <a:pPr algn="l">
              <a:lnSpc>
                <a:spcPct val="104000"/>
              </a:lnSpc>
              <a:spcBef>
                <a:spcPts val="0"/>
              </a:spcBef>
              <a:spcAft>
                <a:spcPts val="0"/>
              </a:spcAft>
            </a:pPr>
            <a:r>
              <a:rPr sz="1100" b="0" i="0">
                <a:solidFill>
                  <a:srgbClr val="5B6B64"/>
                </a:solidFill>
                <a:latin typeface="Calibri"/>
              </a:rPr>
              <a:t>Detectar anomalías z-score y quiebres estructurales con BFAST.</a:t>
            </a:r>
          </a:p>
        </p:txBody>
      </p:sp>
      <p:sp>
        <p:nvSpPr>
          <p:cNvPr id="14" name="Rounded Rectangle 13"/>
          <p:cNvSpPr/>
          <p:nvPr/>
        </p:nvSpPr>
        <p:spPr>
          <a:xfrm>
            <a:off x="5349240" y="3502151"/>
            <a:ext cx="6035040" cy="694944"/>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349240" y="3502151"/>
            <a:ext cx="73152" cy="694944"/>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05272" y="3630168"/>
            <a:ext cx="5614416" cy="438912"/>
          </a:xfrm>
          <a:prstGeom prst="rect">
            <a:avLst/>
          </a:prstGeom>
          <a:noFill/>
        </p:spPr>
        <p:txBody>
          <a:bodyPr wrap="square" lIns="0" rIns="0" tIns="0" bIns="0" anchor="ctr">
            <a:spAutoFit/>
          </a:bodyPr>
          <a:lstStyle/>
          <a:p>
            <a:pPr algn="l">
              <a:lnSpc>
                <a:spcPct val="100000"/>
              </a:lnSpc>
              <a:spcBef>
                <a:spcPts val="0"/>
              </a:spcBef>
              <a:spcAft>
                <a:spcPts val="300"/>
              </a:spcAft>
            </a:pPr>
            <a:r>
              <a:rPr sz="1300" b="1" i="0">
                <a:solidFill>
                  <a:srgbClr val="16241D"/>
                </a:solidFill>
                <a:latin typeface="Calibri"/>
              </a:rPr>
              <a:t>3 · Segmentación y fragmentación</a:t>
            </a:r>
          </a:p>
          <a:p>
            <a:pPr algn="l">
              <a:lnSpc>
                <a:spcPct val="104000"/>
              </a:lnSpc>
              <a:spcBef>
                <a:spcPts val="0"/>
              </a:spcBef>
              <a:spcAft>
                <a:spcPts val="0"/>
              </a:spcAft>
            </a:pPr>
            <a:r>
              <a:rPr sz="1100" b="0" i="0">
                <a:solidFill>
                  <a:srgbClr val="5B6B64"/>
                </a:solidFill>
                <a:latin typeface="Calibri"/>
              </a:rPr>
              <a:t>Aplicar SamGeo y calcular métricas del paisaje en EPSG:9377.</a:t>
            </a:r>
          </a:p>
        </p:txBody>
      </p:sp>
      <p:sp>
        <p:nvSpPr>
          <p:cNvPr id="17" name="Rounded Rectangle 16"/>
          <p:cNvSpPr/>
          <p:nvPr/>
        </p:nvSpPr>
        <p:spPr>
          <a:xfrm>
            <a:off x="5349240" y="4270248"/>
            <a:ext cx="6035040" cy="694944"/>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349240" y="4270248"/>
            <a:ext cx="73152" cy="694944"/>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05272" y="4398264"/>
            <a:ext cx="5614416" cy="438912"/>
          </a:xfrm>
          <a:prstGeom prst="rect">
            <a:avLst/>
          </a:prstGeom>
          <a:noFill/>
        </p:spPr>
        <p:txBody>
          <a:bodyPr wrap="square" lIns="0" rIns="0" tIns="0" bIns="0" anchor="ctr">
            <a:spAutoFit/>
          </a:bodyPr>
          <a:lstStyle/>
          <a:p>
            <a:pPr algn="l">
              <a:lnSpc>
                <a:spcPct val="100000"/>
              </a:lnSpc>
              <a:spcBef>
                <a:spcPts val="0"/>
              </a:spcBef>
              <a:spcAft>
                <a:spcPts val="300"/>
              </a:spcAft>
            </a:pPr>
            <a:r>
              <a:rPr sz="1300" b="1" i="0">
                <a:solidFill>
                  <a:srgbClr val="16241D"/>
                </a:solidFill>
                <a:latin typeface="Calibri"/>
              </a:rPr>
              <a:t>4 · Forzamientos climático-hidrológicos</a:t>
            </a:r>
          </a:p>
          <a:p>
            <a:pPr algn="l">
              <a:lnSpc>
                <a:spcPct val="104000"/>
              </a:lnSpc>
              <a:spcBef>
                <a:spcPts val="0"/>
              </a:spcBef>
              <a:spcAft>
                <a:spcPts val="0"/>
              </a:spcAft>
            </a:pPr>
            <a:r>
              <a:rPr sz="1100" b="0" i="0">
                <a:solidFill>
                  <a:srgbClr val="5B6B64"/>
                </a:solidFill>
                <a:latin typeface="Calibri"/>
              </a:rPr>
              <a:t>Relacionar la dinámica del manglar con ERA5-Land, ENSO, caudal IDEAM y CHIRPS.</a:t>
            </a:r>
          </a:p>
        </p:txBody>
      </p:sp>
      <p:sp>
        <p:nvSpPr>
          <p:cNvPr id="20" name="Rounded Rectangle 19"/>
          <p:cNvSpPr/>
          <p:nvPr/>
        </p:nvSpPr>
        <p:spPr>
          <a:xfrm>
            <a:off x="5349240" y="5038344"/>
            <a:ext cx="6035040" cy="694944"/>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349240" y="5038344"/>
            <a:ext cx="73152" cy="694944"/>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05272" y="5166359"/>
            <a:ext cx="5614416" cy="438912"/>
          </a:xfrm>
          <a:prstGeom prst="rect">
            <a:avLst/>
          </a:prstGeom>
          <a:noFill/>
        </p:spPr>
        <p:txBody>
          <a:bodyPr wrap="square" lIns="0" rIns="0" tIns="0" bIns="0" anchor="ctr">
            <a:spAutoFit/>
          </a:bodyPr>
          <a:lstStyle/>
          <a:p>
            <a:pPr algn="l">
              <a:lnSpc>
                <a:spcPct val="100000"/>
              </a:lnSpc>
              <a:spcBef>
                <a:spcPts val="0"/>
              </a:spcBef>
              <a:spcAft>
                <a:spcPts val="300"/>
              </a:spcAft>
            </a:pPr>
            <a:r>
              <a:rPr sz="1300" b="1" i="0">
                <a:solidFill>
                  <a:srgbClr val="16241D"/>
                </a:solidFill>
                <a:latin typeface="Calibri"/>
              </a:rPr>
              <a:t>5 · Validación cartográfica</a:t>
            </a:r>
          </a:p>
          <a:p>
            <a:pPr algn="l">
              <a:lnSpc>
                <a:spcPct val="104000"/>
              </a:lnSpc>
              <a:spcBef>
                <a:spcPts val="0"/>
              </a:spcBef>
              <a:spcAft>
                <a:spcPts val="0"/>
              </a:spcAft>
            </a:pPr>
            <a:r>
              <a:rPr sz="1100" b="0" i="0">
                <a:solidFill>
                  <a:srgbClr val="5B6B64"/>
                </a:solidFill>
                <a:latin typeface="Calibri"/>
              </a:rPr>
              <a:t>Comparar reglas por umbrales y Random Forest frente a INVEMAR y ESA WorldCover.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nito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77240" y="566928"/>
            <a:ext cx="10607040" cy="320040"/>
          </a:xfrm>
          <a:prstGeom prst="rect">
            <a:avLst/>
          </a:prstGeom>
          <a:noFill/>
        </p:spPr>
        <p:txBody>
          <a:bodyPr wrap="square" lIns="0" rIns="0" tIns="0" bIns="0">
            <a:spAutoFit/>
          </a:bodyPr>
          <a:lstStyle/>
          <a:p>
            <a:pPr algn="l">
              <a:spcBef>
                <a:spcPts val="0"/>
              </a:spcBef>
              <a:spcAft>
                <a:spcPts val="0"/>
              </a:spcAft>
            </a:pPr>
            <a:r>
              <a:rPr sz="1150" b="1" i="0">
                <a:solidFill>
                  <a:srgbClr val="0F766E"/>
                </a:solidFill>
                <a:latin typeface="Calibri"/>
              </a:rPr>
              <a:t>ÁREA DE ESTUDIO · AOI ACOTADO</a:t>
            </a:r>
          </a:p>
        </p:txBody>
      </p:sp>
      <p:sp>
        <p:nvSpPr>
          <p:cNvPr id="4" name="TextBox 3"/>
          <p:cNvSpPr txBox="1"/>
          <p:nvPr/>
        </p:nvSpPr>
        <p:spPr>
          <a:xfrm>
            <a:off x="777240" y="914400"/>
            <a:ext cx="10607040" cy="914400"/>
          </a:xfrm>
          <a:prstGeom prst="rect">
            <a:avLst/>
          </a:prstGeom>
          <a:noFill/>
        </p:spPr>
        <p:txBody>
          <a:bodyPr wrap="square" lIns="0" rIns="0" tIns="0" bIns="0">
            <a:spAutoFit/>
          </a:bodyPr>
          <a:lstStyle/>
          <a:p>
            <a:pPr algn="l">
              <a:lnSpc>
                <a:spcPct val="104000"/>
              </a:lnSpc>
              <a:spcBef>
                <a:spcPts val="0"/>
              </a:spcBef>
              <a:spcAft>
                <a:spcPts val="0"/>
              </a:spcAft>
            </a:pPr>
            <a:r>
              <a:rPr sz="3000" b="1" i="0">
                <a:solidFill>
                  <a:srgbClr val="16241D"/>
                </a:solidFill>
                <a:latin typeface="Georgia"/>
              </a:rPr>
              <a:t>835,3 km² de área protegida oficial</a:t>
            </a:r>
          </a:p>
        </p:txBody>
      </p:sp>
      <p:sp>
        <p:nvSpPr>
          <p:cNvPr id="5" name="Rounded Rectangle 4"/>
          <p:cNvSpPr/>
          <p:nvPr/>
        </p:nvSpPr>
        <p:spPr>
          <a:xfrm>
            <a:off x="777240" y="2011680"/>
            <a:ext cx="5212080" cy="1078992"/>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2011680"/>
            <a:ext cx="73152" cy="1078992"/>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139696"/>
            <a:ext cx="4791456" cy="822959"/>
          </a:xfrm>
          <a:prstGeom prst="rect">
            <a:avLst/>
          </a:prstGeom>
          <a:noFill/>
        </p:spPr>
        <p:txBody>
          <a:bodyPr wrap="square" lIns="0" rIns="0" tIns="0" bIns="0" anchor="ctr">
            <a:spAutoFit/>
          </a:bodyPr>
          <a:lstStyle/>
          <a:p>
            <a:pPr algn="l">
              <a:lnSpc>
                <a:spcPct val="100000"/>
              </a:lnSpc>
              <a:spcBef>
                <a:spcPts val="0"/>
              </a:spcBef>
              <a:spcAft>
                <a:spcPts val="300"/>
              </a:spcAft>
            </a:pPr>
            <a:r>
              <a:rPr sz="1300" b="1" i="0">
                <a:solidFill>
                  <a:srgbClr val="16241D"/>
                </a:solidFill>
                <a:latin typeface="Calibri"/>
              </a:rPr>
              <a:t>AOI RUNAP</a:t>
            </a:r>
          </a:p>
          <a:p>
            <a:pPr algn="l">
              <a:lnSpc>
                <a:spcPct val="104000"/>
              </a:lnSpc>
              <a:spcBef>
                <a:spcPts val="0"/>
              </a:spcBef>
              <a:spcAft>
                <a:spcPts val="0"/>
              </a:spcAft>
            </a:pPr>
            <a:r>
              <a:rPr sz="1100" b="0" i="0">
                <a:solidFill>
                  <a:srgbClr val="5B6B64"/>
                </a:solidFill>
                <a:latin typeface="Calibri"/>
              </a:rPr>
              <a:t>Unión del SFF CGSM y la Vía Parque Isla de Salamanca. Reemplaza un AOI preliminar de 5.073 km².</a:t>
            </a:r>
          </a:p>
        </p:txBody>
      </p:sp>
      <p:sp>
        <p:nvSpPr>
          <p:cNvPr id="8" name="Rounded Rectangle 7"/>
          <p:cNvSpPr/>
          <p:nvPr/>
        </p:nvSpPr>
        <p:spPr>
          <a:xfrm>
            <a:off x="777240" y="3200400"/>
            <a:ext cx="5212080" cy="1078992"/>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3200400"/>
            <a:ext cx="73152" cy="1078992"/>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3328416"/>
            <a:ext cx="4791456" cy="822959"/>
          </a:xfrm>
          <a:prstGeom prst="rect">
            <a:avLst/>
          </a:prstGeom>
          <a:noFill/>
        </p:spPr>
        <p:txBody>
          <a:bodyPr wrap="square" lIns="0" rIns="0" tIns="0" bIns="0" anchor="ctr">
            <a:spAutoFit/>
          </a:bodyPr>
          <a:lstStyle/>
          <a:p>
            <a:pPr algn="l">
              <a:lnSpc>
                <a:spcPct val="100000"/>
              </a:lnSpc>
              <a:spcBef>
                <a:spcPts val="0"/>
              </a:spcBef>
              <a:spcAft>
                <a:spcPts val="300"/>
              </a:spcAft>
            </a:pPr>
            <a:r>
              <a:rPr sz="1300" b="1" i="0">
                <a:solidFill>
                  <a:srgbClr val="16241D"/>
                </a:solidFill>
                <a:latin typeface="Calibri"/>
              </a:rPr>
              <a:t>8 estaciones de análisis</a:t>
            </a:r>
          </a:p>
          <a:p>
            <a:pPr algn="l">
              <a:lnSpc>
                <a:spcPct val="104000"/>
              </a:lnSpc>
              <a:spcBef>
                <a:spcPts val="0"/>
              </a:spcBef>
              <a:spcAft>
                <a:spcPts val="0"/>
              </a:spcAft>
            </a:pPr>
            <a:r>
              <a:rPr sz="1100" b="0" i="0">
                <a:solidFill>
                  <a:srgbClr val="5B6B64"/>
                </a:solidFill>
                <a:latin typeface="Calibri"/>
              </a:rPr>
              <a:t>Cinco estaciones INVEMAR-GBIF y tres estaciones complementarias sobre manglar verificado.</a:t>
            </a:r>
          </a:p>
        </p:txBody>
      </p:sp>
      <p:sp>
        <p:nvSpPr>
          <p:cNvPr id="11" name="Rounded Rectangle 10"/>
          <p:cNvSpPr/>
          <p:nvPr/>
        </p:nvSpPr>
        <p:spPr>
          <a:xfrm>
            <a:off x="777240" y="4389120"/>
            <a:ext cx="5212080" cy="1078992"/>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4389120"/>
            <a:ext cx="73152" cy="1078992"/>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1" y="4517136"/>
            <a:ext cx="4791456" cy="822959"/>
          </a:xfrm>
          <a:prstGeom prst="rect">
            <a:avLst/>
          </a:prstGeom>
          <a:noFill/>
        </p:spPr>
        <p:txBody>
          <a:bodyPr wrap="square" lIns="0" rIns="0" tIns="0" bIns="0" anchor="ctr">
            <a:spAutoFit/>
          </a:bodyPr>
          <a:lstStyle/>
          <a:p>
            <a:pPr algn="l">
              <a:lnSpc>
                <a:spcPct val="100000"/>
              </a:lnSpc>
              <a:spcBef>
                <a:spcPts val="0"/>
              </a:spcBef>
              <a:spcAft>
                <a:spcPts val="300"/>
              </a:spcAft>
            </a:pPr>
            <a:r>
              <a:rPr sz="1300" b="1" i="0">
                <a:solidFill>
                  <a:srgbClr val="16241D"/>
                </a:solidFill>
                <a:latin typeface="Calibri"/>
              </a:rPr>
              <a:t>Áreas en EPSG:9377</a:t>
            </a:r>
          </a:p>
          <a:p>
            <a:pPr algn="l">
              <a:lnSpc>
                <a:spcPct val="104000"/>
              </a:lnSpc>
              <a:spcBef>
                <a:spcPts val="0"/>
              </a:spcBef>
              <a:spcAft>
                <a:spcPts val="0"/>
              </a:spcAft>
            </a:pPr>
            <a:r>
              <a:rPr sz="1100" b="0" i="0">
                <a:solidFill>
                  <a:srgbClr val="5B6B64"/>
                </a:solidFill>
                <a:latin typeface="Calibri"/>
              </a:rPr>
              <a:t>Sistema oficial MAGNA-SIRGAS para cálculos métricos. Cerca del 51 % del AOI corresponde a agua permanente o estacional según JRC.</a:t>
            </a:r>
          </a:p>
        </p:txBody>
      </p:sp>
      <p:sp>
        <p:nvSpPr>
          <p:cNvPr id="14" name="Rounded Rectangle 13"/>
          <p:cNvSpPr/>
          <p:nvPr/>
        </p:nvSpPr>
        <p:spPr>
          <a:xfrm>
            <a:off x="6172200" y="1874519"/>
            <a:ext cx="5257800" cy="4160520"/>
          </a:xfrm>
          <a:prstGeom prst="roundRect">
            <a:avLst>
              <a:gd name="adj" fmla="val 6000"/>
            </a:avLst>
          </a:prstGeom>
          <a:solidFill>
            <a:srgbClr val="FFFFFF"/>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rea.png"/>
          <p:cNvPicPr>
            <a:picLocks noChangeAspect="1"/>
          </p:cNvPicPr>
          <p:nvPr/>
        </p:nvPicPr>
        <p:blipFill>
          <a:blip r:embed="rId3"/>
          <a:stretch>
            <a:fillRect/>
          </a:stretch>
        </p:blipFill>
        <p:spPr>
          <a:xfrm>
            <a:off x="6355080" y="2168541"/>
            <a:ext cx="4892040" cy="357247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nito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77240" y="566928"/>
            <a:ext cx="10607040" cy="320040"/>
          </a:xfrm>
          <a:prstGeom prst="rect">
            <a:avLst/>
          </a:prstGeom>
          <a:noFill/>
        </p:spPr>
        <p:txBody>
          <a:bodyPr wrap="square" lIns="0" rIns="0" tIns="0" bIns="0">
            <a:spAutoFit/>
          </a:bodyPr>
          <a:lstStyle/>
          <a:p>
            <a:pPr algn="l">
              <a:spcBef>
                <a:spcPts val="0"/>
              </a:spcBef>
              <a:spcAft>
                <a:spcPts val="0"/>
              </a:spcAft>
            </a:pPr>
            <a:r>
              <a:rPr sz="1150" b="1" i="0">
                <a:solidFill>
                  <a:srgbClr val="0F766E"/>
                </a:solidFill>
                <a:latin typeface="Calibri"/>
              </a:rPr>
              <a:t>DATOS · 13 CONJUNTOS, 6 CATEGORÍAS</a:t>
            </a:r>
          </a:p>
        </p:txBody>
      </p:sp>
      <p:sp>
        <p:nvSpPr>
          <p:cNvPr id="4" name="TextBox 3"/>
          <p:cNvSpPr txBox="1"/>
          <p:nvPr/>
        </p:nvSpPr>
        <p:spPr>
          <a:xfrm>
            <a:off x="777240" y="914400"/>
            <a:ext cx="10607040" cy="914400"/>
          </a:xfrm>
          <a:prstGeom prst="rect">
            <a:avLst/>
          </a:prstGeom>
          <a:noFill/>
        </p:spPr>
        <p:txBody>
          <a:bodyPr wrap="square" lIns="0" rIns="0" tIns="0" bIns="0">
            <a:spAutoFit/>
          </a:bodyPr>
          <a:lstStyle/>
          <a:p>
            <a:pPr algn="l">
              <a:lnSpc>
                <a:spcPct val="104000"/>
              </a:lnSpc>
              <a:spcBef>
                <a:spcPts val="0"/>
              </a:spcBef>
              <a:spcAft>
                <a:spcPts val="0"/>
              </a:spcAft>
            </a:pPr>
            <a:r>
              <a:rPr sz="3000" b="1" i="0">
                <a:solidFill>
                  <a:srgbClr val="16241D"/>
                </a:solidFill>
                <a:latin typeface="Georgia"/>
              </a:rPr>
              <a:t>Una base multisensor y multifuente</a:t>
            </a:r>
          </a:p>
        </p:txBody>
      </p:sp>
      <p:sp>
        <p:nvSpPr>
          <p:cNvPr id="5" name="Rounded Rectangle 4"/>
          <p:cNvSpPr/>
          <p:nvPr/>
        </p:nvSpPr>
        <p:spPr>
          <a:xfrm>
            <a:off x="777240" y="2011680"/>
            <a:ext cx="3310128" cy="120700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2011680"/>
            <a:ext cx="73152" cy="1207008"/>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139696"/>
            <a:ext cx="2889504" cy="950976"/>
          </a:xfrm>
          <a:prstGeom prst="rect">
            <a:avLst/>
          </a:prstGeom>
          <a:noFill/>
        </p:spPr>
        <p:txBody>
          <a:bodyPr wrap="square" lIns="0" rIns="0" tIns="0" bIns="0" anchor="ctr">
            <a:spAutoFit/>
          </a:bodyPr>
          <a:lstStyle/>
          <a:p>
            <a:pPr algn="l">
              <a:lnSpc>
                <a:spcPct val="100000"/>
              </a:lnSpc>
              <a:spcBef>
                <a:spcPts val="0"/>
              </a:spcBef>
              <a:spcAft>
                <a:spcPts val="300"/>
              </a:spcAft>
            </a:pPr>
            <a:r>
              <a:rPr sz="1300" b="1" i="0">
                <a:solidFill>
                  <a:srgbClr val="16241D"/>
                </a:solidFill>
                <a:latin typeface="Calibri"/>
              </a:rPr>
              <a:t>Óptico satelital</a:t>
            </a:r>
          </a:p>
          <a:p>
            <a:pPr algn="l">
              <a:lnSpc>
                <a:spcPct val="104000"/>
              </a:lnSpc>
              <a:spcBef>
                <a:spcPts val="0"/>
              </a:spcBef>
              <a:spcAft>
                <a:spcPts val="0"/>
              </a:spcAft>
            </a:pPr>
            <a:r>
              <a:rPr sz="1100" b="0" i="0">
                <a:solidFill>
                  <a:srgbClr val="5B6B64"/>
                </a:solidFill>
                <a:latin typeface="Calibri"/>
              </a:rPr>
              <a:t>Sentinel-2 MSI y Landsat 8/9 para índices espectrales y serie NDVI.</a:t>
            </a:r>
          </a:p>
        </p:txBody>
      </p:sp>
      <p:sp>
        <p:nvSpPr>
          <p:cNvPr id="8" name="Rounded Rectangle 7"/>
          <p:cNvSpPr/>
          <p:nvPr/>
        </p:nvSpPr>
        <p:spPr>
          <a:xfrm>
            <a:off x="4315968" y="2011680"/>
            <a:ext cx="3310128" cy="120700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15968" y="2011680"/>
            <a:ext cx="73152" cy="1207008"/>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139696"/>
            <a:ext cx="2889504" cy="950976"/>
          </a:xfrm>
          <a:prstGeom prst="rect">
            <a:avLst/>
          </a:prstGeom>
          <a:noFill/>
        </p:spPr>
        <p:txBody>
          <a:bodyPr wrap="square" lIns="0" rIns="0" tIns="0" bIns="0" anchor="ctr">
            <a:spAutoFit/>
          </a:bodyPr>
          <a:lstStyle/>
          <a:p>
            <a:pPr algn="l">
              <a:lnSpc>
                <a:spcPct val="100000"/>
              </a:lnSpc>
              <a:spcBef>
                <a:spcPts val="0"/>
              </a:spcBef>
              <a:spcAft>
                <a:spcPts val="300"/>
              </a:spcAft>
            </a:pPr>
            <a:r>
              <a:rPr sz="1300" b="1" i="0">
                <a:solidFill>
                  <a:srgbClr val="16241D"/>
                </a:solidFill>
                <a:latin typeface="Calibri"/>
              </a:rPr>
              <a:t>Radar Sentinel-1</a:t>
            </a:r>
          </a:p>
          <a:p>
            <a:pPr algn="l">
              <a:lnSpc>
                <a:spcPct val="104000"/>
              </a:lnSpc>
              <a:spcBef>
                <a:spcPts val="0"/>
              </a:spcBef>
              <a:spcAft>
                <a:spcPts val="0"/>
              </a:spcAft>
            </a:pPr>
            <a:r>
              <a:rPr sz="1100" b="0" i="0">
                <a:solidFill>
                  <a:srgbClr val="5B6B64"/>
                </a:solidFill>
                <a:latin typeface="Calibri"/>
              </a:rPr>
              <a:t>SAR banda VH para análisis de inundación y respuesta estructural del dosel.</a:t>
            </a:r>
          </a:p>
        </p:txBody>
      </p:sp>
      <p:sp>
        <p:nvSpPr>
          <p:cNvPr id="11" name="Rounded Rectangle 10"/>
          <p:cNvSpPr/>
          <p:nvPr/>
        </p:nvSpPr>
        <p:spPr>
          <a:xfrm>
            <a:off x="7854696" y="2011680"/>
            <a:ext cx="3310128" cy="120700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854696" y="2011680"/>
            <a:ext cx="73152" cy="1207008"/>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10727" y="2139696"/>
            <a:ext cx="2889504" cy="950976"/>
          </a:xfrm>
          <a:prstGeom prst="rect">
            <a:avLst/>
          </a:prstGeom>
          <a:noFill/>
        </p:spPr>
        <p:txBody>
          <a:bodyPr wrap="square" lIns="0" rIns="0" tIns="0" bIns="0" anchor="ctr">
            <a:spAutoFit/>
          </a:bodyPr>
          <a:lstStyle/>
          <a:p>
            <a:pPr algn="l">
              <a:lnSpc>
                <a:spcPct val="100000"/>
              </a:lnSpc>
              <a:spcBef>
                <a:spcPts val="0"/>
              </a:spcBef>
              <a:spcAft>
                <a:spcPts val="300"/>
              </a:spcAft>
            </a:pPr>
            <a:r>
              <a:rPr sz="1300" b="1" i="0">
                <a:solidFill>
                  <a:srgbClr val="16241D"/>
                </a:solidFill>
                <a:latin typeface="Calibri"/>
              </a:rPr>
              <a:t>Cartografía de referencia</a:t>
            </a:r>
          </a:p>
          <a:p>
            <a:pPr algn="l">
              <a:lnSpc>
                <a:spcPct val="104000"/>
              </a:lnSpc>
              <a:spcBef>
                <a:spcPts val="0"/>
              </a:spcBef>
              <a:spcAft>
                <a:spcPts val="0"/>
              </a:spcAft>
            </a:pPr>
            <a:r>
              <a:rPr sz="1100" b="0" i="0">
                <a:solidFill>
                  <a:srgbClr val="5B6B64"/>
                </a:solidFill>
                <a:latin typeface="Calibri"/>
              </a:rPr>
              <a:t>ESA WorldCover e INVEMAR 1:25.000 para validación.</a:t>
            </a:r>
          </a:p>
        </p:txBody>
      </p:sp>
      <p:sp>
        <p:nvSpPr>
          <p:cNvPr id="14" name="Rounded Rectangle 13"/>
          <p:cNvSpPr/>
          <p:nvPr/>
        </p:nvSpPr>
        <p:spPr>
          <a:xfrm>
            <a:off x="777240" y="3383280"/>
            <a:ext cx="3310128" cy="120700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3383280"/>
            <a:ext cx="73152" cy="1207008"/>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33271" y="3511296"/>
            <a:ext cx="2889504" cy="950976"/>
          </a:xfrm>
          <a:prstGeom prst="rect">
            <a:avLst/>
          </a:prstGeom>
          <a:noFill/>
        </p:spPr>
        <p:txBody>
          <a:bodyPr wrap="square" lIns="0" rIns="0" tIns="0" bIns="0" anchor="ctr">
            <a:spAutoFit/>
          </a:bodyPr>
          <a:lstStyle/>
          <a:p>
            <a:pPr algn="l">
              <a:lnSpc>
                <a:spcPct val="100000"/>
              </a:lnSpc>
              <a:spcBef>
                <a:spcPts val="0"/>
              </a:spcBef>
              <a:spcAft>
                <a:spcPts val="300"/>
              </a:spcAft>
            </a:pPr>
            <a:r>
              <a:rPr sz="1300" b="1" i="0">
                <a:solidFill>
                  <a:srgbClr val="16241D"/>
                </a:solidFill>
                <a:latin typeface="Calibri"/>
              </a:rPr>
              <a:t>Clima e hidrología</a:t>
            </a:r>
          </a:p>
          <a:p>
            <a:pPr algn="l">
              <a:lnSpc>
                <a:spcPct val="104000"/>
              </a:lnSpc>
              <a:spcBef>
                <a:spcPts val="0"/>
              </a:spcBef>
              <a:spcAft>
                <a:spcPts val="0"/>
              </a:spcAft>
            </a:pPr>
            <a:r>
              <a:rPr sz="1100" b="0" i="0">
                <a:solidFill>
                  <a:srgbClr val="5B6B64"/>
                </a:solidFill>
                <a:latin typeface="Calibri"/>
              </a:rPr>
              <a:t>ERA5-Land, ENSO ONI/SOI, caudal IDEAM y CHIRPS.</a:t>
            </a:r>
          </a:p>
        </p:txBody>
      </p:sp>
      <p:sp>
        <p:nvSpPr>
          <p:cNvPr id="17" name="Rounded Rectangle 16"/>
          <p:cNvSpPr/>
          <p:nvPr/>
        </p:nvSpPr>
        <p:spPr>
          <a:xfrm>
            <a:off x="4315968" y="3383280"/>
            <a:ext cx="3310128" cy="120700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15968" y="3383280"/>
            <a:ext cx="73152" cy="1207008"/>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3511296"/>
            <a:ext cx="2889504" cy="950976"/>
          </a:xfrm>
          <a:prstGeom prst="rect">
            <a:avLst/>
          </a:prstGeom>
          <a:noFill/>
        </p:spPr>
        <p:txBody>
          <a:bodyPr wrap="square" lIns="0" rIns="0" tIns="0" bIns="0" anchor="ctr">
            <a:spAutoFit/>
          </a:bodyPr>
          <a:lstStyle/>
          <a:p>
            <a:pPr algn="l">
              <a:lnSpc>
                <a:spcPct val="100000"/>
              </a:lnSpc>
              <a:spcBef>
                <a:spcPts val="0"/>
              </a:spcBef>
              <a:spcAft>
                <a:spcPts val="300"/>
              </a:spcAft>
            </a:pPr>
            <a:r>
              <a:rPr sz="1300" b="1" i="0">
                <a:solidFill>
                  <a:srgbClr val="16241D"/>
                </a:solidFill>
                <a:latin typeface="Calibri"/>
              </a:rPr>
              <a:t>Agua e inundación</a:t>
            </a:r>
          </a:p>
          <a:p>
            <a:pPr algn="l">
              <a:lnSpc>
                <a:spcPct val="104000"/>
              </a:lnSpc>
              <a:spcBef>
                <a:spcPts val="0"/>
              </a:spcBef>
              <a:spcAft>
                <a:spcPts val="0"/>
              </a:spcAft>
            </a:pPr>
            <a:r>
              <a:rPr sz="1100" b="0" i="0">
                <a:solidFill>
                  <a:srgbClr val="5B6B64"/>
                </a:solidFill>
                <a:latin typeface="Calibri"/>
              </a:rPr>
              <a:t>JRC Global Surface Water y Global Flood Database.</a:t>
            </a:r>
          </a:p>
        </p:txBody>
      </p:sp>
      <p:sp>
        <p:nvSpPr>
          <p:cNvPr id="20" name="Rounded Rectangle 19"/>
          <p:cNvSpPr/>
          <p:nvPr/>
        </p:nvSpPr>
        <p:spPr>
          <a:xfrm>
            <a:off x="7854696" y="3383280"/>
            <a:ext cx="3310128" cy="120700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854696" y="3383280"/>
            <a:ext cx="73152" cy="1207008"/>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3511296"/>
            <a:ext cx="2889504" cy="950976"/>
          </a:xfrm>
          <a:prstGeom prst="rect">
            <a:avLst/>
          </a:prstGeom>
          <a:noFill/>
        </p:spPr>
        <p:txBody>
          <a:bodyPr wrap="square" lIns="0" rIns="0" tIns="0" bIns="0" anchor="ctr">
            <a:spAutoFit/>
          </a:bodyPr>
          <a:lstStyle/>
          <a:p>
            <a:pPr algn="l">
              <a:lnSpc>
                <a:spcPct val="100000"/>
              </a:lnSpc>
              <a:spcBef>
                <a:spcPts val="0"/>
              </a:spcBef>
              <a:spcAft>
                <a:spcPts val="300"/>
              </a:spcAft>
            </a:pPr>
            <a:r>
              <a:rPr sz="1300" b="1" i="0">
                <a:solidFill>
                  <a:srgbClr val="16241D"/>
                </a:solidFill>
                <a:latin typeface="Calibri"/>
              </a:rPr>
              <a:t>Elevación y campo</a:t>
            </a:r>
          </a:p>
          <a:p>
            <a:pPr algn="l">
              <a:lnSpc>
                <a:spcPct val="104000"/>
              </a:lnSpc>
              <a:spcBef>
                <a:spcPts val="0"/>
              </a:spcBef>
              <a:spcAft>
                <a:spcPts val="0"/>
              </a:spcAft>
            </a:pPr>
            <a:r>
              <a:rPr sz="1100" b="0" i="0">
                <a:solidFill>
                  <a:srgbClr val="5B6B64"/>
                </a:solidFill>
                <a:latin typeface="Calibri"/>
              </a:rPr>
              <a:t>SRTM e INVEMAR-GBIF para contexto físico y estaciones.</a:t>
            </a:r>
          </a:p>
        </p:txBody>
      </p:sp>
      <p:sp>
        <p:nvSpPr>
          <p:cNvPr id="23" name="Rounded Rectangle 22"/>
          <p:cNvSpPr/>
          <p:nvPr/>
        </p:nvSpPr>
        <p:spPr>
          <a:xfrm>
            <a:off x="777240" y="4892040"/>
            <a:ext cx="10607040" cy="86868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5029200"/>
            <a:ext cx="9966960" cy="603504"/>
          </a:xfrm>
          <a:prstGeom prst="rect">
            <a:avLst/>
          </a:prstGeom>
          <a:noFill/>
        </p:spPr>
        <p:txBody>
          <a:bodyPr wrap="square" lIns="0" rIns="0" tIns="0" bIns="0" anchor="ctr">
            <a:spAutoFit/>
          </a:bodyPr>
          <a:lstStyle/>
          <a:p>
            <a:pPr algn="l">
              <a:lnSpc>
                <a:spcPct val="105000"/>
              </a:lnSpc>
              <a:spcBef>
                <a:spcPts val="0"/>
              </a:spcBef>
              <a:spcAft>
                <a:spcPts val="0"/>
              </a:spcAft>
            </a:pPr>
            <a:r>
              <a:rPr sz="1200" b="1" i="0">
                <a:solidFill>
                  <a:srgbClr val="0F766E"/>
                </a:solidFill>
                <a:latin typeface="Calibri"/>
              </a:rPr>
              <a:t>La mayoría de fuentes se gestionó desde Google Earth Engine</a:t>
            </a:r>
            <a:r>
              <a:rPr sz="1200" b="0" i="0">
                <a:solidFill>
                  <a:srgbClr val="5B6B64"/>
                </a:solidFill>
                <a:latin typeface="Calibri"/>
              </a:rPr>
              <a:t>, reduciendo descargas locales y mejorando reproducibilidad.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nito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77240" y="566928"/>
            <a:ext cx="10607040" cy="320040"/>
          </a:xfrm>
          <a:prstGeom prst="rect">
            <a:avLst/>
          </a:prstGeom>
          <a:noFill/>
        </p:spPr>
        <p:txBody>
          <a:bodyPr wrap="square" lIns="0" rIns="0" tIns="0" bIns="0">
            <a:spAutoFit/>
          </a:bodyPr>
          <a:lstStyle/>
          <a:p>
            <a:pPr algn="l">
              <a:spcBef>
                <a:spcPts val="0"/>
              </a:spcBef>
              <a:spcAft>
                <a:spcPts val="0"/>
              </a:spcAft>
            </a:pPr>
            <a:r>
              <a:rPr sz="1150" b="1" i="0">
                <a:solidFill>
                  <a:srgbClr val="0F766E"/>
                </a:solidFill>
                <a:latin typeface="Calibri"/>
              </a:rPr>
              <a:t>ARQUITECTURA · EL CORAZÓN DEL PROYECTO</a:t>
            </a:r>
          </a:p>
        </p:txBody>
      </p:sp>
      <p:sp>
        <p:nvSpPr>
          <p:cNvPr id="4" name="TextBox 3"/>
          <p:cNvSpPr txBox="1"/>
          <p:nvPr/>
        </p:nvSpPr>
        <p:spPr>
          <a:xfrm>
            <a:off x="777240" y="914400"/>
            <a:ext cx="10607040" cy="914400"/>
          </a:xfrm>
          <a:prstGeom prst="rect">
            <a:avLst/>
          </a:prstGeom>
          <a:noFill/>
        </p:spPr>
        <p:txBody>
          <a:bodyPr wrap="square" lIns="0" rIns="0" tIns="0" bIns="0">
            <a:spAutoFit/>
          </a:bodyPr>
          <a:lstStyle/>
          <a:p>
            <a:pPr algn="l">
              <a:lnSpc>
                <a:spcPct val="104000"/>
              </a:lnSpc>
              <a:spcBef>
                <a:spcPts val="0"/>
              </a:spcBef>
              <a:spcAft>
                <a:spcPts val="0"/>
              </a:spcAft>
            </a:pPr>
            <a:r>
              <a:rPr sz="2400" b="1" i="0">
                <a:solidFill>
                  <a:srgbClr val="16241D"/>
                </a:solidFill>
                <a:latin typeface="Georgia"/>
              </a:rPr>
              <a:t>Python, R y Julia conectados por un datacube común</a:t>
            </a:r>
          </a:p>
        </p:txBody>
      </p:sp>
      <p:sp>
        <p:nvSpPr>
          <p:cNvPr id="5" name="Rounded Rectangle 4"/>
          <p:cNvSpPr/>
          <p:nvPr/>
        </p:nvSpPr>
        <p:spPr>
          <a:xfrm>
            <a:off x="777240" y="1828800"/>
            <a:ext cx="10607040" cy="4480560"/>
          </a:xfrm>
          <a:prstGeom prst="roundRect">
            <a:avLst>
              <a:gd name="adj" fmla="val 6000"/>
            </a:avLst>
          </a:prstGeom>
          <a:solidFill>
            <a:srgbClr val="FFFFFF"/>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lujo_final.png"/>
          <p:cNvPicPr>
            <a:picLocks noChangeAspect="1"/>
          </p:cNvPicPr>
          <p:nvPr/>
        </p:nvPicPr>
        <p:blipFill>
          <a:blip r:embed="rId3"/>
          <a:stretch>
            <a:fillRect/>
          </a:stretch>
        </p:blipFill>
        <p:spPr>
          <a:xfrm>
            <a:off x="2343866" y="1965960"/>
            <a:ext cx="7473786" cy="42062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nito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77240" y="566928"/>
            <a:ext cx="10607040" cy="320040"/>
          </a:xfrm>
          <a:prstGeom prst="rect">
            <a:avLst/>
          </a:prstGeom>
          <a:noFill/>
        </p:spPr>
        <p:txBody>
          <a:bodyPr wrap="square" lIns="0" rIns="0" tIns="0" bIns="0">
            <a:spAutoFit/>
          </a:bodyPr>
          <a:lstStyle/>
          <a:p>
            <a:pPr algn="l">
              <a:spcBef>
                <a:spcPts val="0"/>
              </a:spcBef>
              <a:spcAft>
                <a:spcPts val="0"/>
              </a:spcAft>
            </a:pPr>
            <a:r>
              <a:rPr sz="1150" b="1" i="0">
                <a:solidFill>
                  <a:srgbClr val="0F766E"/>
                </a:solidFill>
                <a:latin typeface="Calibri"/>
              </a:rPr>
              <a:t>MÉTODOS · 5 FASES + MÓDULO SAR/CLIMÁTICO</a:t>
            </a:r>
          </a:p>
        </p:txBody>
      </p:sp>
      <p:sp>
        <p:nvSpPr>
          <p:cNvPr id="4" name="TextBox 3"/>
          <p:cNvSpPr txBox="1"/>
          <p:nvPr/>
        </p:nvSpPr>
        <p:spPr>
          <a:xfrm>
            <a:off x="777240" y="914400"/>
            <a:ext cx="10607040" cy="914400"/>
          </a:xfrm>
          <a:prstGeom prst="rect">
            <a:avLst/>
          </a:prstGeom>
          <a:noFill/>
        </p:spPr>
        <p:txBody>
          <a:bodyPr wrap="square" lIns="0" rIns="0" tIns="0" bIns="0">
            <a:spAutoFit/>
          </a:bodyPr>
          <a:lstStyle/>
          <a:p>
            <a:pPr algn="l">
              <a:lnSpc>
                <a:spcPct val="104000"/>
              </a:lnSpc>
              <a:spcBef>
                <a:spcPts val="0"/>
              </a:spcBef>
              <a:spcAft>
                <a:spcPts val="0"/>
              </a:spcAft>
            </a:pPr>
            <a:r>
              <a:rPr sz="3000" b="1" i="0">
                <a:solidFill>
                  <a:srgbClr val="16241D"/>
                </a:solidFill>
                <a:latin typeface="Georgia"/>
              </a:rPr>
              <a:t>Decisiones técnicas del flujo</a:t>
            </a:r>
          </a:p>
        </p:txBody>
      </p:sp>
      <p:sp>
        <p:nvSpPr>
          <p:cNvPr id="5" name="Rounded Rectangle 4"/>
          <p:cNvSpPr/>
          <p:nvPr/>
        </p:nvSpPr>
        <p:spPr>
          <a:xfrm>
            <a:off x="777240" y="2011680"/>
            <a:ext cx="3310128" cy="175564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157984"/>
            <a:ext cx="2871216" cy="457200"/>
          </a:xfrm>
          <a:prstGeom prst="rect">
            <a:avLst/>
          </a:prstGeom>
          <a:noFill/>
        </p:spPr>
        <p:txBody>
          <a:bodyPr wrap="square" lIns="0" rIns="0" tIns="0" bIns="0">
            <a:spAutoFit/>
          </a:bodyPr>
          <a:lstStyle/>
          <a:p>
            <a:pPr algn="l">
              <a:spcBef>
                <a:spcPts val="0"/>
              </a:spcBef>
              <a:spcAft>
                <a:spcPts val="0"/>
              </a:spcAft>
            </a:pPr>
            <a:r>
              <a:rPr sz="2000" b="1" i="0">
                <a:solidFill>
                  <a:srgbClr val="0F766E"/>
                </a:solidFill>
                <a:latin typeface="Georgia"/>
              </a:rPr>
              <a:t>1</a:t>
            </a:r>
          </a:p>
        </p:txBody>
      </p:sp>
      <p:sp>
        <p:nvSpPr>
          <p:cNvPr id="7" name="Rounded Rectangle 6"/>
          <p:cNvSpPr/>
          <p:nvPr/>
        </p:nvSpPr>
        <p:spPr>
          <a:xfrm>
            <a:off x="2944368" y="2194560"/>
            <a:ext cx="960120" cy="274320"/>
          </a:xfrm>
          <a:prstGeom prst="roundRect">
            <a:avLst>
              <a:gd name="adj" fmla="val 50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44368" y="2194560"/>
            <a:ext cx="960120" cy="274320"/>
          </a:xfrm>
          <a:prstGeom prst="rect">
            <a:avLst/>
          </a:prstGeom>
          <a:noFill/>
        </p:spPr>
        <p:txBody>
          <a:bodyPr wrap="square" lIns="0" rIns="0" tIns="0" bIns="0" anchor="ctr">
            <a:spAutoFit/>
          </a:bodyPr>
          <a:lstStyle/>
          <a:p>
            <a:pPr algn="ctr">
              <a:spcBef>
                <a:spcPts val="0"/>
              </a:spcBef>
              <a:spcAft>
                <a:spcPts val="0"/>
              </a:spcAft>
            </a:pPr>
            <a:r>
              <a:rPr sz="950" b="1" i="0">
                <a:solidFill>
                  <a:srgbClr val="0F766E"/>
                </a:solidFill>
                <a:latin typeface="Calibri"/>
              </a:rPr>
              <a:t>FASE 1</a:t>
            </a:r>
          </a:p>
        </p:txBody>
      </p:sp>
      <p:sp>
        <p:nvSpPr>
          <p:cNvPr id="9" name="TextBox 8"/>
          <p:cNvSpPr txBox="1"/>
          <p:nvPr/>
        </p:nvSpPr>
        <p:spPr>
          <a:xfrm>
            <a:off x="996695" y="2688336"/>
            <a:ext cx="2871216" cy="932688"/>
          </a:xfrm>
          <a:prstGeom prst="rect">
            <a:avLst/>
          </a:prstGeom>
          <a:noFill/>
        </p:spPr>
        <p:txBody>
          <a:bodyPr wrap="square" lIns="0" rIns="0" tIns="0" bIns="0">
            <a:spAutoFit/>
          </a:bodyPr>
          <a:lstStyle/>
          <a:p>
            <a:pPr algn="l">
              <a:lnSpc>
                <a:spcPct val="100000"/>
              </a:lnSpc>
              <a:spcBef>
                <a:spcPts val="0"/>
              </a:spcBef>
              <a:spcAft>
                <a:spcPts val="300"/>
              </a:spcAft>
            </a:pPr>
            <a:r>
              <a:rPr sz="1300" b="1" i="0">
                <a:solidFill>
                  <a:srgbClr val="16241D"/>
                </a:solidFill>
                <a:latin typeface="Calibri"/>
              </a:rPr>
              <a:t>Datacube</a:t>
            </a:r>
          </a:p>
          <a:p>
            <a:pPr algn="l">
              <a:lnSpc>
                <a:spcPct val="104000"/>
              </a:lnSpc>
              <a:spcBef>
                <a:spcPts val="0"/>
              </a:spcBef>
              <a:spcAft>
                <a:spcPts val="0"/>
              </a:spcAft>
            </a:pPr>
            <a:r>
              <a:rPr sz="1100" b="0" i="0">
                <a:solidFill>
                  <a:srgbClr val="5B6B64"/>
                </a:solidFill>
                <a:latin typeface="Calibri"/>
              </a:rPr>
              <a:t>Composiciones Sentinel-2 y Landsat 8/9; NetCDF CF-1.8 en EPSG:9377.</a:t>
            </a:r>
          </a:p>
        </p:txBody>
      </p:sp>
      <p:sp>
        <p:nvSpPr>
          <p:cNvPr id="10" name="Rounded Rectangle 9"/>
          <p:cNvSpPr/>
          <p:nvPr/>
        </p:nvSpPr>
        <p:spPr>
          <a:xfrm>
            <a:off x="4315968" y="2011680"/>
            <a:ext cx="3310128" cy="175564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35424" y="2157984"/>
            <a:ext cx="2871216" cy="457200"/>
          </a:xfrm>
          <a:prstGeom prst="rect">
            <a:avLst/>
          </a:prstGeom>
          <a:noFill/>
        </p:spPr>
        <p:txBody>
          <a:bodyPr wrap="square" lIns="0" rIns="0" tIns="0" bIns="0">
            <a:spAutoFit/>
          </a:bodyPr>
          <a:lstStyle/>
          <a:p>
            <a:pPr algn="l">
              <a:spcBef>
                <a:spcPts val="0"/>
              </a:spcBef>
              <a:spcAft>
                <a:spcPts val="0"/>
              </a:spcAft>
            </a:pPr>
            <a:r>
              <a:rPr sz="2000" b="1" i="0">
                <a:solidFill>
                  <a:srgbClr val="0F766E"/>
                </a:solidFill>
                <a:latin typeface="Georgia"/>
              </a:rPr>
              <a:t>2</a:t>
            </a:r>
          </a:p>
        </p:txBody>
      </p:sp>
      <p:sp>
        <p:nvSpPr>
          <p:cNvPr id="12" name="Rounded Rectangle 11"/>
          <p:cNvSpPr/>
          <p:nvPr/>
        </p:nvSpPr>
        <p:spPr>
          <a:xfrm>
            <a:off x="6483096" y="2194560"/>
            <a:ext cx="960120" cy="274320"/>
          </a:xfrm>
          <a:prstGeom prst="roundRect">
            <a:avLst>
              <a:gd name="adj" fmla="val 50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83096" y="2194560"/>
            <a:ext cx="960120" cy="274320"/>
          </a:xfrm>
          <a:prstGeom prst="rect">
            <a:avLst/>
          </a:prstGeom>
          <a:noFill/>
        </p:spPr>
        <p:txBody>
          <a:bodyPr wrap="square" lIns="0" rIns="0" tIns="0" bIns="0" anchor="ctr">
            <a:spAutoFit/>
          </a:bodyPr>
          <a:lstStyle/>
          <a:p>
            <a:pPr algn="ctr">
              <a:spcBef>
                <a:spcPts val="0"/>
              </a:spcBef>
              <a:spcAft>
                <a:spcPts val="0"/>
              </a:spcAft>
            </a:pPr>
            <a:r>
              <a:rPr sz="950" b="1" i="0">
                <a:solidFill>
                  <a:srgbClr val="0F766E"/>
                </a:solidFill>
                <a:latin typeface="Calibri"/>
              </a:rPr>
              <a:t>FASE 2</a:t>
            </a:r>
          </a:p>
        </p:txBody>
      </p:sp>
      <p:sp>
        <p:nvSpPr>
          <p:cNvPr id="14" name="TextBox 13"/>
          <p:cNvSpPr txBox="1"/>
          <p:nvPr/>
        </p:nvSpPr>
        <p:spPr>
          <a:xfrm>
            <a:off x="4535424" y="2688336"/>
            <a:ext cx="2871216" cy="932688"/>
          </a:xfrm>
          <a:prstGeom prst="rect">
            <a:avLst/>
          </a:prstGeom>
          <a:noFill/>
        </p:spPr>
        <p:txBody>
          <a:bodyPr wrap="square" lIns="0" rIns="0" tIns="0" bIns="0">
            <a:spAutoFit/>
          </a:bodyPr>
          <a:lstStyle/>
          <a:p>
            <a:pPr algn="l">
              <a:lnSpc>
                <a:spcPct val="100000"/>
              </a:lnSpc>
              <a:spcBef>
                <a:spcPts val="0"/>
              </a:spcBef>
              <a:spcAft>
                <a:spcPts val="300"/>
              </a:spcAft>
            </a:pPr>
            <a:r>
              <a:rPr sz="1300" b="1" i="0">
                <a:solidFill>
                  <a:srgbClr val="16241D"/>
                </a:solidFill>
                <a:latin typeface="Calibri"/>
              </a:rPr>
              <a:t>Series temporales</a:t>
            </a:r>
          </a:p>
          <a:p>
            <a:pPr algn="l">
              <a:lnSpc>
                <a:spcPct val="104000"/>
              </a:lnSpc>
              <a:spcBef>
                <a:spcPts val="0"/>
              </a:spcBef>
              <a:spcAft>
                <a:spcPts val="0"/>
              </a:spcAft>
            </a:pPr>
            <a:r>
              <a:rPr sz="1100" b="0" i="0">
                <a:solidFill>
                  <a:srgbClr val="5B6B64"/>
                </a:solidFill>
                <a:latin typeface="Calibri"/>
              </a:rPr>
              <a:t>929 observaciones NDVI; z-score y BFAST.</a:t>
            </a:r>
          </a:p>
        </p:txBody>
      </p:sp>
      <p:sp>
        <p:nvSpPr>
          <p:cNvPr id="15" name="Rounded Rectangle 14"/>
          <p:cNvSpPr/>
          <p:nvPr/>
        </p:nvSpPr>
        <p:spPr>
          <a:xfrm>
            <a:off x="7854696" y="2011680"/>
            <a:ext cx="3310128" cy="175564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74152" y="2157984"/>
            <a:ext cx="2871216" cy="457200"/>
          </a:xfrm>
          <a:prstGeom prst="rect">
            <a:avLst/>
          </a:prstGeom>
          <a:noFill/>
        </p:spPr>
        <p:txBody>
          <a:bodyPr wrap="square" lIns="0" rIns="0" tIns="0" bIns="0">
            <a:spAutoFit/>
          </a:bodyPr>
          <a:lstStyle/>
          <a:p>
            <a:pPr algn="l">
              <a:spcBef>
                <a:spcPts val="0"/>
              </a:spcBef>
              <a:spcAft>
                <a:spcPts val="0"/>
              </a:spcAft>
            </a:pPr>
            <a:r>
              <a:rPr sz="2000" b="1" i="0">
                <a:solidFill>
                  <a:srgbClr val="0F766E"/>
                </a:solidFill>
                <a:latin typeface="Georgia"/>
              </a:rPr>
              <a:t>3</a:t>
            </a:r>
          </a:p>
        </p:txBody>
      </p:sp>
      <p:sp>
        <p:nvSpPr>
          <p:cNvPr id="17" name="Rounded Rectangle 16"/>
          <p:cNvSpPr/>
          <p:nvPr/>
        </p:nvSpPr>
        <p:spPr>
          <a:xfrm>
            <a:off x="10021824" y="2194560"/>
            <a:ext cx="960120" cy="274320"/>
          </a:xfrm>
          <a:prstGeom prst="roundRect">
            <a:avLst>
              <a:gd name="adj" fmla="val 50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21824" y="2194560"/>
            <a:ext cx="960120" cy="274320"/>
          </a:xfrm>
          <a:prstGeom prst="rect">
            <a:avLst/>
          </a:prstGeom>
          <a:noFill/>
        </p:spPr>
        <p:txBody>
          <a:bodyPr wrap="square" lIns="0" rIns="0" tIns="0" bIns="0" anchor="ctr">
            <a:spAutoFit/>
          </a:bodyPr>
          <a:lstStyle/>
          <a:p>
            <a:pPr algn="ctr">
              <a:spcBef>
                <a:spcPts val="0"/>
              </a:spcBef>
              <a:spcAft>
                <a:spcPts val="0"/>
              </a:spcAft>
            </a:pPr>
            <a:r>
              <a:rPr sz="950" b="1" i="0">
                <a:solidFill>
                  <a:srgbClr val="0F766E"/>
                </a:solidFill>
                <a:latin typeface="Calibri"/>
              </a:rPr>
              <a:t>FASE 3</a:t>
            </a:r>
          </a:p>
        </p:txBody>
      </p:sp>
      <p:sp>
        <p:nvSpPr>
          <p:cNvPr id="19" name="TextBox 18"/>
          <p:cNvSpPr txBox="1"/>
          <p:nvPr/>
        </p:nvSpPr>
        <p:spPr>
          <a:xfrm>
            <a:off x="8074152" y="2688336"/>
            <a:ext cx="2871216" cy="932688"/>
          </a:xfrm>
          <a:prstGeom prst="rect">
            <a:avLst/>
          </a:prstGeom>
          <a:noFill/>
        </p:spPr>
        <p:txBody>
          <a:bodyPr wrap="square" lIns="0" rIns="0" tIns="0" bIns="0">
            <a:spAutoFit/>
          </a:bodyPr>
          <a:lstStyle/>
          <a:p>
            <a:pPr algn="l">
              <a:lnSpc>
                <a:spcPct val="100000"/>
              </a:lnSpc>
              <a:spcBef>
                <a:spcPts val="0"/>
              </a:spcBef>
              <a:spcAft>
                <a:spcPts val="300"/>
              </a:spcAft>
            </a:pPr>
            <a:r>
              <a:rPr sz="1300" b="1" i="0">
                <a:solidFill>
                  <a:srgbClr val="16241D"/>
                </a:solidFill>
                <a:latin typeface="Calibri"/>
              </a:rPr>
              <a:t>Segmentación</a:t>
            </a:r>
          </a:p>
          <a:p>
            <a:pPr algn="l">
              <a:lnSpc>
                <a:spcPct val="104000"/>
              </a:lnSpc>
              <a:spcBef>
                <a:spcPts val="0"/>
              </a:spcBef>
              <a:spcAft>
                <a:spcPts val="0"/>
              </a:spcAft>
            </a:pPr>
            <a:r>
              <a:rPr sz="1100" b="0" i="0">
                <a:solidFill>
                  <a:srgbClr val="5B6B64"/>
                </a:solidFill>
                <a:latin typeface="Calibri"/>
              </a:rPr>
              <a:t>SamGeo con backbone vit_b sobre composiciones RGB.</a:t>
            </a:r>
          </a:p>
        </p:txBody>
      </p:sp>
      <p:sp>
        <p:nvSpPr>
          <p:cNvPr id="20" name="Rounded Rectangle 19"/>
          <p:cNvSpPr/>
          <p:nvPr/>
        </p:nvSpPr>
        <p:spPr>
          <a:xfrm>
            <a:off x="777240" y="3931920"/>
            <a:ext cx="3310128" cy="175564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6695" y="4078224"/>
            <a:ext cx="2871216" cy="457200"/>
          </a:xfrm>
          <a:prstGeom prst="rect">
            <a:avLst/>
          </a:prstGeom>
          <a:noFill/>
        </p:spPr>
        <p:txBody>
          <a:bodyPr wrap="square" lIns="0" rIns="0" tIns="0" bIns="0">
            <a:spAutoFit/>
          </a:bodyPr>
          <a:lstStyle/>
          <a:p>
            <a:pPr algn="l">
              <a:spcBef>
                <a:spcPts val="0"/>
              </a:spcBef>
              <a:spcAft>
                <a:spcPts val="0"/>
              </a:spcAft>
            </a:pPr>
            <a:r>
              <a:rPr sz="2000" b="1" i="0">
                <a:solidFill>
                  <a:srgbClr val="0F766E"/>
                </a:solidFill>
                <a:latin typeface="Georgia"/>
              </a:rPr>
              <a:t>4</a:t>
            </a:r>
          </a:p>
        </p:txBody>
      </p:sp>
      <p:sp>
        <p:nvSpPr>
          <p:cNvPr id="22" name="Rounded Rectangle 21"/>
          <p:cNvSpPr/>
          <p:nvPr/>
        </p:nvSpPr>
        <p:spPr>
          <a:xfrm>
            <a:off x="2944368" y="4114800"/>
            <a:ext cx="960120" cy="274320"/>
          </a:xfrm>
          <a:prstGeom prst="roundRect">
            <a:avLst>
              <a:gd name="adj" fmla="val 50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44368" y="4114800"/>
            <a:ext cx="960120" cy="274320"/>
          </a:xfrm>
          <a:prstGeom prst="rect">
            <a:avLst/>
          </a:prstGeom>
          <a:noFill/>
        </p:spPr>
        <p:txBody>
          <a:bodyPr wrap="square" lIns="0" rIns="0" tIns="0" bIns="0" anchor="ctr">
            <a:spAutoFit/>
          </a:bodyPr>
          <a:lstStyle/>
          <a:p>
            <a:pPr algn="ctr">
              <a:spcBef>
                <a:spcPts val="0"/>
              </a:spcBef>
              <a:spcAft>
                <a:spcPts val="0"/>
              </a:spcAft>
            </a:pPr>
            <a:r>
              <a:rPr sz="950" b="1" i="0">
                <a:solidFill>
                  <a:srgbClr val="0F766E"/>
                </a:solidFill>
                <a:latin typeface="Calibri"/>
              </a:rPr>
              <a:t>FASE 4</a:t>
            </a:r>
          </a:p>
        </p:txBody>
      </p:sp>
      <p:sp>
        <p:nvSpPr>
          <p:cNvPr id="24" name="TextBox 23"/>
          <p:cNvSpPr txBox="1"/>
          <p:nvPr/>
        </p:nvSpPr>
        <p:spPr>
          <a:xfrm>
            <a:off x="996695" y="4608576"/>
            <a:ext cx="2871216" cy="932688"/>
          </a:xfrm>
          <a:prstGeom prst="rect">
            <a:avLst/>
          </a:prstGeom>
          <a:noFill/>
        </p:spPr>
        <p:txBody>
          <a:bodyPr wrap="square" lIns="0" rIns="0" tIns="0" bIns="0">
            <a:spAutoFit/>
          </a:bodyPr>
          <a:lstStyle/>
          <a:p>
            <a:pPr algn="l">
              <a:lnSpc>
                <a:spcPct val="100000"/>
              </a:lnSpc>
              <a:spcBef>
                <a:spcPts val="0"/>
              </a:spcBef>
              <a:spcAft>
                <a:spcPts val="300"/>
              </a:spcAft>
            </a:pPr>
            <a:r>
              <a:rPr sz="1300" b="1" i="0">
                <a:solidFill>
                  <a:srgbClr val="16241D"/>
                </a:solidFill>
                <a:latin typeface="Calibri"/>
              </a:rPr>
              <a:t>Fragmentación</a:t>
            </a:r>
          </a:p>
          <a:p>
            <a:pPr algn="l">
              <a:lnSpc>
                <a:spcPct val="104000"/>
              </a:lnSpc>
              <a:spcBef>
                <a:spcPts val="0"/>
              </a:spcBef>
              <a:spcAft>
                <a:spcPts val="0"/>
              </a:spcAft>
            </a:pPr>
            <a:r>
              <a:rPr sz="1100" b="0" i="0">
                <a:solidFill>
                  <a:srgbClr val="5B6B64"/>
                </a:solidFill>
                <a:latin typeface="Calibri"/>
              </a:rPr>
              <a:t>Julia: parches, índice de forma, distancia al vecino y DE-9IM.</a:t>
            </a:r>
          </a:p>
        </p:txBody>
      </p:sp>
      <p:sp>
        <p:nvSpPr>
          <p:cNvPr id="25" name="Rounded Rectangle 24"/>
          <p:cNvSpPr/>
          <p:nvPr/>
        </p:nvSpPr>
        <p:spPr>
          <a:xfrm>
            <a:off x="4315968" y="3931920"/>
            <a:ext cx="3310128" cy="175564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35424" y="4078224"/>
            <a:ext cx="2871216" cy="457200"/>
          </a:xfrm>
          <a:prstGeom prst="rect">
            <a:avLst/>
          </a:prstGeom>
          <a:noFill/>
        </p:spPr>
        <p:txBody>
          <a:bodyPr wrap="square" lIns="0" rIns="0" tIns="0" bIns="0">
            <a:spAutoFit/>
          </a:bodyPr>
          <a:lstStyle/>
          <a:p>
            <a:pPr algn="l">
              <a:spcBef>
                <a:spcPts val="0"/>
              </a:spcBef>
              <a:spcAft>
                <a:spcPts val="0"/>
              </a:spcAft>
            </a:pPr>
            <a:r>
              <a:rPr sz="2000" b="1" i="0">
                <a:solidFill>
                  <a:srgbClr val="0F766E"/>
                </a:solidFill>
                <a:latin typeface="Georgia"/>
              </a:rPr>
              <a:t>S1</a:t>
            </a:r>
          </a:p>
        </p:txBody>
      </p:sp>
      <p:sp>
        <p:nvSpPr>
          <p:cNvPr id="27" name="Rounded Rectangle 26"/>
          <p:cNvSpPr/>
          <p:nvPr/>
        </p:nvSpPr>
        <p:spPr>
          <a:xfrm>
            <a:off x="6483096" y="4114800"/>
            <a:ext cx="960120" cy="274320"/>
          </a:xfrm>
          <a:prstGeom prst="roundRect">
            <a:avLst>
              <a:gd name="adj" fmla="val 50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3096" y="4114800"/>
            <a:ext cx="960120" cy="274320"/>
          </a:xfrm>
          <a:prstGeom prst="rect">
            <a:avLst/>
          </a:prstGeom>
          <a:noFill/>
        </p:spPr>
        <p:txBody>
          <a:bodyPr wrap="square" lIns="0" rIns="0" tIns="0" bIns="0" anchor="ctr">
            <a:spAutoFit/>
          </a:bodyPr>
          <a:lstStyle/>
          <a:p>
            <a:pPr algn="ctr">
              <a:spcBef>
                <a:spcPts val="0"/>
              </a:spcBef>
              <a:spcAft>
                <a:spcPts val="0"/>
              </a:spcAft>
            </a:pPr>
            <a:r>
              <a:rPr sz="950" b="1" i="0">
                <a:solidFill>
                  <a:srgbClr val="0F766E"/>
                </a:solidFill>
                <a:latin typeface="Calibri"/>
              </a:rPr>
              <a:t>MÓDULO</a:t>
            </a:r>
          </a:p>
        </p:txBody>
      </p:sp>
      <p:sp>
        <p:nvSpPr>
          <p:cNvPr id="29" name="TextBox 28"/>
          <p:cNvSpPr txBox="1"/>
          <p:nvPr/>
        </p:nvSpPr>
        <p:spPr>
          <a:xfrm>
            <a:off x="4535424" y="4608576"/>
            <a:ext cx="2871216" cy="932688"/>
          </a:xfrm>
          <a:prstGeom prst="rect">
            <a:avLst/>
          </a:prstGeom>
          <a:noFill/>
        </p:spPr>
        <p:txBody>
          <a:bodyPr wrap="square" lIns="0" rIns="0" tIns="0" bIns="0">
            <a:spAutoFit/>
          </a:bodyPr>
          <a:lstStyle/>
          <a:p>
            <a:pPr algn="l">
              <a:lnSpc>
                <a:spcPct val="100000"/>
              </a:lnSpc>
              <a:spcBef>
                <a:spcPts val="0"/>
              </a:spcBef>
              <a:spcAft>
                <a:spcPts val="300"/>
              </a:spcAft>
            </a:pPr>
            <a:r>
              <a:rPr sz="1300" b="1" i="0">
                <a:solidFill>
                  <a:srgbClr val="16241D"/>
                </a:solidFill>
                <a:latin typeface="Calibri"/>
              </a:rPr>
              <a:t>Inundación SAR</a:t>
            </a:r>
          </a:p>
          <a:p>
            <a:pPr algn="l">
              <a:lnSpc>
                <a:spcPct val="104000"/>
              </a:lnSpc>
              <a:spcBef>
                <a:spcPts val="0"/>
              </a:spcBef>
              <a:spcAft>
                <a:spcPts val="0"/>
              </a:spcAft>
            </a:pPr>
            <a:r>
              <a:rPr sz="1100" b="0" i="0">
                <a:solidFill>
                  <a:srgbClr val="5B6B64"/>
                </a:solidFill>
                <a:latin typeface="Calibri"/>
              </a:rPr>
              <a:t>Sentinel-1 VH: diferencia seco–inundado y doble rebote bajo dosel.</a:t>
            </a:r>
          </a:p>
        </p:txBody>
      </p:sp>
      <p:sp>
        <p:nvSpPr>
          <p:cNvPr id="30" name="Rounded Rectangle 29"/>
          <p:cNvSpPr/>
          <p:nvPr/>
        </p:nvSpPr>
        <p:spPr>
          <a:xfrm>
            <a:off x="7854696" y="3931920"/>
            <a:ext cx="3310128" cy="175564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74152" y="4078224"/>
            <a:ext cx="2871216" cy="457200"/>
          </a:xfrm>
          <a:prstGeom prst="rect">
            <a:avLst/>
          </a:prstGeom>
          <a:noFill/>
        </p:spPr>
        <p:txBody>
          <a:bodyPr wrap="square" lIns="0" rIns="0" tIns="0" bIns="0">
            <a:spAutoFit/>
          </a:bodyPr>
          <a:lstStyle/>
          <a:p>
            <a:pPr algn="l">
              <a:spcBef>
                <a:spcPts val="0"/>
              </a:spcBef>
              <a:spcAft>
                <a:spcPts val="0"/>
              </a:spcAft>
            </a:pPr>
            <a:r>
              <a:rPr sz="2000" b="1" i="0">
                <a:solidFill>
                  <a:srgbClr val="0F766E"/>
                </a:solidFill>
                <a:latin typeface="Georgia"/>
              </a:rPr>
              <a:t>5</a:t>
            </a:r>
          </a:p>
        </p:txBody>
      </p:sp>
      <p:sp>
        <p:nvSpPr>
          <p:cNvPr id="32" name="Rounded Rectangle 31"/>
          <p:cNvSpPr/>
          <p:nvPr/>
        </p:nvSpPr>
        <p:spPr>
          <a:xfrm>
            <a:off x="10021824" y="4114800"/>
            <a:ext cx="960120" cy="274320"/>
          </a:xfrm>
          <a:prstGeom prst="roundRect">
            <a:avLst>
              <a:gd name="adj" fmla="val 50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21824" y="4114800"/>
            <a:ext cx="960120" cy="274320"/>
          </a:xfrm>
          <a:prstGeom prst="rect">
            <a:avLst/>
          </a:prstGeom>
          <a:noFill/>
        </p:spPr>
        <p:txBody>
          <a:bodyPr wrap="square" lIns="0" rIns="0" tIns="0" bIns="0" anchor="ctr">
            <a:spAutoFit/>
          </a:bodyPr>
          <a:lstStyle/>
          <a:p>
            <a:pPr algn="ctr">
              <a:spcBef>
                <a:spcPts val="0"/>
              </a:spcBef>
              <a:spcAft>
                <a:spcPts val="0"/>
              </a:spcAft>
            </a:pPr>
            <a:r>
              <a:rPr sz="950" b="1" i="0">
                <a:solidFill>
                  <a:srgbClr val="0F766E"/>
                </a:solidFill>
                <a:latin typeface="Calibri"/>
              </a:rPr>
              <a:t>FASE 5</a:t>
            </a:r>
          </a:p>
        </p:txBody>
      </p:sp>
      <p:sp>
        <p:nvSpPr>
          <p:cNvPr id="34" name="TextBox 33"/>
          <p:cNvSpPr txBox="1"/>
          <p:nvPr/>
        </p:nvSpPr>
        <p:spPr>
          <a:xfrm>
            <a:off x="8074152" y="4608576"/>
            <a:ext cx="2871216" cy="932688"/>
          </a:xfrm>
          <a:prstGeom prst="rect">
            <a:avLst/>
          </a:prstGeom>
          <a:noFill/>
        </p:spPr>
        <p:txBody>
          <a:bodyPr wrap="square" lIns="0" rIns="0" tIns="0" bIns="0">
            <a:spAutoFit/>
          </a:bodyPr>
          <a:lstStyle/>
          <a:p>
            <a:pPr algn="l">
              <a:lnSpc>
                <a:spcPct val="100000"/>
              </a:lnSpc>
              <a:spcBef>
                <a:spcPts val="0"/>
              </a:spcBef>
              <a:spcAft>
                <a:spcPts val="300"/>
              </a:spcAft>
            </a:pPr>
            <a:r>
              <a:rPr sz="1300" b="1" i="0">
                <a:solidFill>
                  <a:srgbClr val="16241D"/>
                </a:solidFill>
                <a:latin typeface="Calibri"/>
              </a:rPr>
              <a:t>Random Forest</a:t>
            </a:r>
          </a:p>
          <a:p>
            <a:pPr algn="l">
              <a:lnSpc>
                <a:spcPct val="104000"/>
              </a:lnSpc>
              <a:spcBef>
                <a:spcPts val="0"/>
              </a:spcBef>
              <a:spcAft>
                <a:spcPts val="0"/>
              </a:spcAft>
            </a:pPr>
            <a:r>
              <a:rPr sz="1100" b="0" i="0">
                <a:solidFill>
                  <a:srgbClr val="5B6B64"/>
                </a:solidFill>
                <a:latin typeface="Calibri"/>
              </a:rPr>
              <a:t>100 árboles, 15 variables, 1.000 puntos y validación cruzada.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nito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77240" y="566928"/>
            <a:ext cx="10607040" cy="320040"/>
          </a:xfrm>
          <a:prstGeom prst="rect">
            <a:avLst/>
          </a:prstGeom>
          <a:noFill/>
        </p:spPr>
        <p:txBody>
          <a:bodyPr wrap="square" lIns="0" rIns="0" tIns="0" bIns="0">
            <a:spAutoFit/>
          </a:bodyPr>
          <a:lstStyle/>
          <a:p>
            <a:pPr algn="l">
              <a:spcBef>
                <a:spcPts val="0"/>
              </a:spcBef>
              <a:spcAft>
                <a:spcPts val="0"/>
              </a:spcAft>
            </a:pPr>
            <a:r>
              <a:rPr sz="1150" b="1" i="0">
                <a:solidFill>
                  <a:srgbClr val="0F766E"/>
                </a:solidFill>
                <a:latin typeface="Calibri"/>
              </a:rPr>
              <a:t>RESULTADOS 1 · DINÁMICA TEMPORAL</a:t>
            </a:r>
          </a:p>
        </p:txBody>
      </p:sp>
      <p:sp>
        <p:nvSpPr>
          <p:cNvPr id="4" name="TextBox 3"/>
          <p:cNvSpPr txBox="1"/>
          <p:nvPr/>
        </p:nvSpPr>
        <p:spPr>
          <a:xfrm>
            <a:off x="777240" y="914400"/>
            <a:ext cx="10607040" cy="914400"/>
          </a:xfrm>
          <a:prstGeom prst="rect">
            <a:avLst/>
          </a:prstGeom>
          <a:noFill/>
        </p:spPr>
        <p:txBody>
          <a:bodyPr wrap="square" lIns="0" rIns="0" tIns="0" bIns="0">
            <a:spAutoFit/>
          </a:bodyPr>
          <a:lstStyle/>
          <a:p>
            <a:pPr algn="l">
              <a:lnSpc>
                <a:spcPct val="104000"/>
              </a:lnSpc>
              <a:spcBef>
                <a:spcPts val="0"/>
              </a:spcBef>
              <a:spcAft>
                <a:spcPts val="0"/>
              </a:spcAft>
            </a:pPr>
            <a:r>
              <a:rPr sz="3000" b="1" i="0">
                <a:solidFill>
                  <a:srgbClr val="16241D"/>
                </a:solidFill>
                <a:latin typeface="Georgia"/>
              </a:rPr>
              <a:t>NDVI, anomalías y quiebres BFAST</a:t>
            </a:r>
          </a:p>
        </p:txBody>
      </p:sp>
      <p:sp>
        <p:nvSpPr>
          <p:cNvPr id="5" name="Rounded Rectangle 4"/>
          <p:cNvSpPr/>
          <p:nvPr/>
        </p:nvSpPr>
        <p:spPr>
          <a:xfrm>
            <a:off x="777240" y="1965960"/>
            <a:ext cx="6400800" cy="3794760"/>
          </a:xfrm>
          <a:prstGeom prst="roundRect">
            <a:avLst>
              <a:gd name="adj" fmla="val 6000"/>
            </a:avLst>
          </a:prstGeom>
          <a:solidFill>
            <a:srgbClr val="FFFFFF"/>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ndvi_serie.png"/>
          <p:cNvPicPr>
            <a:picLocks noChangeAspect="1"/>
          </p:cNvPicPr>
          <p:nvPr/>
        </p:nvPicPr>
        <p:blipFill>
          <a:blip r:embed="rId3"/>
          <a:stretch>
            <a:fillRect/>
          </a:stretch>
        </p:blipFill>
        <p:spPr>
          <a:xfrm>
            <a:off x="914400" y="2631018"/>
            <a:ext cx="6126480" cy="2464643"/>
          </a:xfrm>
          <a:prstGeom prst="rect">
            <a:avLst/>
          </a:prstGeom>
        </p:spPr>
      </p:pic>
      <p:sp>
        <p:nvSpPr>
          <p:cNvPr id="7" name="Rounded Rectangle 6"/>
          <p:cNvSpPr/>
          <p:nvPr/>
        </p:nvSpPr>
        <p:spPr>
          <a:xfrm>
            <a:off x="7406640" y="1965960"/>
            <a:ext cx="1938528" cy="93268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71231" y="2075688"/>
            <a:ext cx="1627632" cy="713232"/>
          </a:xfrm>
          <a:prstGeom prst="rect">
            <a:avLst/>
          </a:prstGeom>
          <a:noFill/>
        </p:spPr>
        <p:txBody>
          <a:bodyPr wrap="square" lIns="0" rIns="0" tIns="0" bIns="0" anchor="ctr">
            <a:spAutoFit/>
          </a:bodyPr>
          <a:lstStyle/>
          <a:p>
            <a:pPr algn="l">
              <a:spcBef>
                <a:spcPts val="0"/>
              </a:spcBef>
              <a:spcAft>
                <a:spcPts val="200"/>
              </a:spcAft>
            </a:pPr>
            <a:r>
              <a:rPr sz="2300" b="1" i="0">
                <a:solidFill>
                  <a:srgbClr val="0F766E"/>
                </a:solidFill>
                <a:latin typeface="Georgia"/>
              </a:rPr>
              <a:t>929</a:t>
            </a:r>
          </a:p>
          <a:p>
            <a:pPr algn="l">
              <a:lnSpc>
                <a:spcPct val="100000"/>
              </a:lnSpc>
              <a:spcBef>
                <a:spcPts val="0"/>
              </a:spcBef>
              <a:spcAft>
                <a:spcPts val="0"/>
              </a:spcAft>
            </a:pPr>
            <a:r>
              <a:rPr sz="1000" b="0" i="0">
                <a:solidFill>
                  <a:srgbClr val="5B6B64"/>
                </a:solidFill>
                <a:latin typeface="Calibri"/>
              </a:rPr>
              <a:t>Observaciones mensuales de NDVI</a:t>
            </a:r>
          </a:p>
        </p:txBody>
      </p:sp>
      <p:sp>
        <p:nvSpPr>
          <p:cNvPr id="9" name="Rounded Rectangle 8"/>
          <p:cNvSpPr/>
          <p:nvPr/>
        </p:nvSpPr>
        <p:spPr>
          <a:xfrm>
            <a:off x="9464040" y="1965960"/>
            <a:ext cx="1938528" cy="93268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28632" y="2075688"/>
            <a:ext cx="1627632" cy="713232"/>
          </a:xfrm>
          <a:prstGeom prst="rect">
            <a:avLst/>
          </a:prstGeom>
          <a:noFill/>
        </p:spPr>
        <p:txBody>
          <a:bodyPr wrap="square" lIns="0" rIns="0" tIns="0" bIns="0" anchor="ctr">
            <a:spAutoFit/>
          </a:bodyPr>
          <a:lstStyle/>
          <a:p>
            <a:pPr algn="l">
              <a:spcBef>
                <a:spcPts val="0"/>
              </a:spcBef>
              <a:spcAft>
                <a:spcPts val="200"/>
              </a:spcAft>
            </a:pPr>
            <a:r>
              <a:rPr sz="2300" b="1" i="0">
                <a:solidFill>
                  <a:srgbClr val="0F766E"/>
                </a:solidFill>
                <a:latin typeface="Georgia"/>
              </a:rPr>
              <a:t>18</a:t>
            </a:r>
          </a:p>
          <a:p>
            <a:pPr algn="l">
              <a:lnSpc>
                <a:spcPct val="100000"/>
              </a:lnSpc>
              <a:spcBef>
                <a:spcPts val="0"/>
              </a:spcBef>
              <a:spcAft>
                <a:spcPts val="0"/>
              </a:spcAft>
            </a:pPr>
            <a:r>
              <a:rPr sz="1000" b="0" i="0">
                <a:solidFill>
                  <a:srgbClr val="5B6B64"/>
                </a:solidFill>
                <a:latin typeface="Calibri"/>
              </a:rPr>
              <a:t>Anomalías significativas</a:t>
            </a:r>
          </a:p>
        </p:txBody>
      </p:sp>
      <p:sp>
        <p:nvSpPr>
          <p:cNvPr id="11" name="Rounded Rectangle 10"/>
          <p:cNvSpPr/>
          <p:nvPr/>
        </p:nvSpPr>
        <p:spPr>
          <a:xfrm>
            <a:off x="7406640" y="3017520"/>
            <a:ext cx="1938528" cy="93268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231" y="3127248"/>
            <a:ext cx="1627632" cy="713232"/>
          </a:xfrm>
          <a:prstGeom prst="rect">
            <a:avLst/>
          </a:prstGeom>
          <a:noFill/>
        </p:spPr>
        <p:txBody>
          <a:bodyPr wrap="square" lIns="0" rIns="0" tIns="0" bIns="0" anchor="ctr">
            <a:spAutoFit/>
          </a:bodyPr>
          <a:lstStyle/>
          <a:p>
            <a:pPr algn="l">
              <a:spcBef>
                <a:spcPts val="0"/>
              </a:spcBef>
              <a:spcAft>
                <a:spcPts val="200"/>
              </a:spcAft>
            </a:pPr>
            <a:r>
              <a:rPr sz="1200" b="1" i="0">
                <a:solidFill>
                  <a:srgbClr val="0F766E"/>
                </a:solidFill>
                <a:latin typeface="Georgia"/>
              </a:rPr>
              <a:t>0,80→0,60→0,80</a:t>
            </a:r>
          </a:p>
          <a:p>
            <a:pPr algn="l">
              <a:lnSpc>
                <a:spcPct val="100000"/>
              </a:lnSpc>
              <a:spcBef>
                <a:spcPts val="0"/>
              </a:spcBef>
              <a:spcAft>
                <a:spcPts val="0"/>
              </a:spcAft>
            </a:pPr>
            <a:r>
              <a:rPr sz="1000" b="0" i="0">
                <a:solidFill>
                  <a:srgbClr val="5B6B64"/>
                </a:solidFill>
                <a:latin typeface="Calibri"/>
              </a:rPr>
              <a:t>Caída y recuperación del NDVI mediano</a:t>
            </a:r>
          </a:p>
        </p:txBody>
      </p:sp>
      <p:sp>
        <p:nvSpPr>
          <p:cNvPr id="13" name="Rounded Rectangle 12"/>
          <p:cNvSpPr/>
          <p:nvPr/>
        </p:nvSpPr>
        <p:spPr>
          <a:xfrm>
            <a:off x="9464040" y="3017520"/>
            <a:ext cx="1938528" cy="93268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28632" y="3127248"/>
            <a:ext cx="1627632" cy="713232"/>
          </a:xfrm>
          <a:prstGeom prst="rect">
            <a:avLst/>
          </a:prstGeom>
          <a:noFill/>
        </p:spPr>
        <p:txBody>
          <a:bodyPr wrap="square" lIns="0" rIns="0" tIns="0" bIns="0" anchor="ctr">
            <a:spAutoFit/>
          </a:bodyPr>
          <a:lstStyle/>
          <a:p>
            <a:pPr algn="l">
              <a:spcBef>
                <a:spcPts val="0"/>
              </a:spcBef>
              <a:spcAft>
                <a:spcPts val="200"/>
              </a:spcAft>
            </a:pPr>
            <a:r>
              <a:rPr sz="2300" b="1" i="0">
                <a:solidFill>
                  <a:srgbClr val="0F766E"/>
                </a:solidFill>
                <a:latin typeface="Georgia"/>
              </a:rPr>
              <a:t>2016</a:t>
            </a:r>
          </a:p>
          <a:p>
            <a:pPr algn="l">
              <a:lnSpc>
                <a:spcPct val="100000"/>
              </a:lnSpc>
              <a:spcBef>
                <a:spcPts val="0"/>
              </a:spcBef>
              <a:spcAft>
                <a:spcPts val="0"/>
              </a:spcAft>
            </a:pPr>
            <a:r>
              <a:rPr sz="1000" b="0" i="0">
                <a:solidFill>
                  <a:srgbClr val="5B6B64"/>
                </a:solidFill>
                <a:latin typeface="Calibri"/>
              </a:rPr>
              <a:t>Quiebre BFAST asociado a El Niño</a:t>
            </a:r>
          </a:p>
        </p:txBody>
      </p:sp>
      <p:sp>
        <p:nvSpPr>
          <p:cNvPr id="15" name="Rounded Rectangle 14"/>
          <p:cNvSpPr/>
          <p:nvPr/>
        </p:nvSpPr>
        <p:spPr>
          <a:xfrm>
            <a:off x="7406640" y="4069080"/>
            <a:ext cx="3995928" cy="169164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07808" y="4206240"/>
            <a:ext cx="3611880" cy="310896"/>
          </a:xfrm>
          <a:prstGeom prst="rect">
            <a:avLst/>
          </a:prstGeom>
          <a:noFill/>
        </p:spPr>
        <p:txBody>
          <a:bodyPr wrap="square" lIns="0" rIns="0" tIns="0" bIns="0">
            <a:spAutoFit/>
          </a:bodyPr>
          <a:lstStyle/>
          <a:p>
            <a:pPr algn="l">
              <a:spcBef>
                <a:spcPts val="0"/>
              </a:spcBef>
              <a:spcAft>
                <a:spcPts val="0"/>
              </a:spcAft>
            </a:pPr>
            <a:r>
              <a:rPr sz="1300" b="1" i="0">
                <a:solidFill>
                  <a:srgbClr val="16241D"/>
                </a:solidFill>
                <a:latin typeface="Calibri"/>
              </a:rPr>
              <a:t>Lectura clave</a:t>
            </a:r>
          </a:p>
        </p:txBody>
      </p:sp>
      <p:sp>
        <p:nvSpPr>
          <p:cNvPr id="17" name="TextBox 16"/>
          <p:cNvSpPr txBox="1"/>
          <p:nvPr/>
        </p:nvSpPr>
        <p:spPr>
          <a:xfrm>
            <a:off x="7607808" y="4572000"/>
            <a:ext cx="3611880" cy="1097280"/>
          </a:xfrm>
          <a:prstGeom prst="rect">
            <a:avLst/>
          </a:prstGeom>
          <a:noFill/>
        </p:spPr>
        <p:txBody>
          <a:bodyPr wrap="square" lIns="0" rIns="0" tIns="0" bIns="0">
            <a:spAutoFit/>
          </a:bodyPr>
          <a:lstStyle/>
          <a:p>
            <a:pPr algn="l">
              <a:lnSpc>
                <a:spcPct val="112000"/>
              </a:lnSpc>
              <a:spcBef>
                <a:spcPts val="0"/>
              </a:spcBef>
              <a:spcAft>
                <a:spcPts val="0"/>
              </a:spcAft>
            </a:pPr>
            <a:r>
              <a:rPr sz="1100" b="0" i="0">
                <a:solidFill>
                  <a:srgbClr val="5B6B64"/>
                </a:solidFill>
                <a:latin typeface="Calibri"/>
              </a:rPr>
              <a:t>La señal temporal muestra caída entre 2019–2020, recuperación posterior y respuestas diferenciadas al analizar estaciones de manglar denso.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nito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77240" y="566928"/>
            <a:ext cx="10607040" cy="320040"/>
          </a:xfrm>
          <a:prstGeom prst="rect">
            <a:avLst/>
          </a:prstGeom>
          <a:noFill/>
        </p:spPr>
        <p:txBody>
          <a:bodyPr wrap="square" lIns="0" rIns="0" tIns="0" bIns="0">
            <a:spAutoFit/>
          </a:bodyPr>
          <a:lstStyle/>
          <a:p>
            <a:pPr algn="l">
              <a:spcBef>
                <a:spcPts val="0"/>
              </a:spcBef>
              <a:spcAft>
                <a:spcPts val="0"/>
              </a:spcAft>
            </a:pPr>
            <a:r>
              <a:rPr sz="1150" b="1" i="0">
                <a:solidFill>
                  <a:srgbClr val="0F766E"/>
                </a:solidFill>
                <a:latin typeface="Calibri"/>
              </a:rPr>
              <a:t>RESULTADOS 2 · DINÁMICA ESPACIAL</a:t>
            </a:r>
          </a:p>
        </p:txBody>
      </p:sp>
      <p:sp>
        <p:nvSpPr>
          <p:cNvPr id="4" name="TextBox 3"/>
          <p:cNvSpPr txBox="1"/>
          <p:nvPr/>
        </p:nvSpPr>
        <p:spPr>
          <a:xfrm>
            <a:off x="777240" y="914400"/>
            <a:ext cx="10607040" cy="914400"/>
          </a:xfrm>
          <a:prstGeom prst="rect">
            <a:avLst/>
          </a:prstGeom>
          <a:noFill/>
        </p:spPr>
        <p:txBody>
          <a:bodyPr wrap="square" lIns="0" rIns="0" tIns="0" bIns="0">
            <a:spAutoFit/>
          </a:bodyPr>
          <a:lstStyle/>
          <a:p>
            <a:pPr algn="l">
              <a:lnSpc>
                <a:spcPct val="104000"/>
              </a:lnSpc>
              <a:spcBef>
                <a:spcPts val="0"/>
              </a:spcBef>
              <a:spcAft>
                <a:spcPts val="0"/>
              </a:spcAft>
            </a:pPr>
            <a:r>
              <a:rPr sz="3000" b="1" i="0">
                <a:solidFill>
                  <a:srgbClr val="16241D"/>
                </a:solidFill>
                <a:latin typeface="Georgia"/>
              </a:rPr>
              <a:t>Contracción aparente y consolidación estructural</a:t>
            </a:r>
          </a:p>
        </p:txBody>
      </p:sp>
      <p:sp>
        <p:nvSpPr>
          <p:cNvPr id="5" name="Rounded Rectangle 4"/>
          <p:cNvSpPr/>
          <p:nvPr/>
        </p:nvSpPr>
        <p:spPr>
          <a:xfrm>
            <a:off x="777240" y="1965960"/>
            <a:ext cx="5029200" cy="3794760"/>
          </a:xfrm>
          <a:prstGeom prst="roundRect">
            <a:avLst>
              <a:gd name="adj" fmla="val 6000"/>
            </a:avLst>
          </a:prstGeom>
          <a:solidFill>
            <a:srgbClr val="FFFFFF"/>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ndvi_cambio.png"/>
          <p:cNvPicPr>
            <a:picLocks noChangeAspect="1"/>
          </p:cNvPicPr>
          <p:nvPr/>
        </p:nvPicPr>
        <p:blipFill>
          <a:blip r:embed="rId3"/>
          <a:stretch>
            <a:fillRect/>
          </a:stretch>
        </p:blipFill>
        <p:spPr>
          <a:xfrm>
            <a:off x="1237696" y="2103120"/>
            <a:ext cx="4108287" cy="3520440"/>
          </a:xfrm>
          <a:prstGeom prst="rect">
            <a:avLst/>
          </a:prstGeom>
        </p:spPr>
      </p:pic>
      <p:sp>
        <p:nvSpPr>
          <p:cNvPr id="7" name="Rounded Rectangle 6"/>
          <p:cNvSpPr/>
          <p:nvPr/>
        </p:nvSpPr>
        <p:spPr>
          <a:xfrm>
            <a:off x="6035040" y="1965960"/>
            <a:ext cx="2606040" cy="93268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99631" y="2075688"/>
            <a:ext cx="2295144" cy="713232"/>
          </a:xfrm>
          <a:prstGeom prst="rect">
            <a:avLst/>
          </a:prstGeom>
          <a:noFill/>
        </p:spPr>
        <p:txBody>
          <a:bodyPr wrap="square" lIns="0" rIns="0" tIns="0" bIns="0" anchor="ctr">
            <a:spAutoFit/>
          </a:bodyPr>
          <a:lstStyle/>
          <a:p>
            <a:pPr algn="l">
              <a:spcBef>
                <a:spcPts val="0"/>
              </a:spcBef>
              <a:spcAft>
                <a:spcPts val="200"/>
              </a:spcAft>
            </a:pPr>
            <a:r>
              <a:rPr sz="1700" b="1" i="0">
                <a:solidFill>
                  <a:srgbClr val="0F766E"/>
                </a:solidFill>
                <a:latin typeface="Georgia"/>
              </a:rPr>
              <a:t>12.426→4.037</a:t>
            </a:r>
            <a:r>
              <a:rPr sz="1150" b="1" i="0">
                <a:solidFill>
                  <a:srgbClr val="5B6B64"/>
                </a:solidFill>
                <a:latin typeface="Calibri"/>
              </a:rPr>
              <a:t> ha</a:t>
            </a:r>
          </a:p>
          <a:p>
            <a:pPr algn="l">
              <a:lnSpc>
                <a:spcPct val="100000"/>
              </a:lnSpc>
              <a:spcBef>
                <a:spcPts val="0"/>
              </a:spcBef>
              <a:spcAft>
                <a:spcPts val="0"/>
              </a:spcAft>
            </a:pPr>
            <a:r>
              <a:rPr sz="1000" b="0" i="0">
                <a:solidFill>
                  <a:srgbClr val="5B6B64"/>
                </a:solidFill>
                <a:latin typeface="Calibri"/>
              </a:rPr>
              <a:t>Cobertura clasificada por segmentación</a:t>
            </a:r>
          </a:p>
        </p:txBody>
      </p:sp>
      <p:sp>
        <p:nvSpPr>
          <p:cNvPr id="9" name="Rounded Rectangle 8"/>
          <p:cNvSpPr/>
          <p:nvPr/>
        </p:nvSpPr>
        <p:spPr>
          <a:xfrm>
            <a:off x="8796528" y="1965960"/>
            <a:ext cx="2606040" cy="93268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19" y="2075688"/>
            <a:ext cx="2295144" cy="713232"/>
          </a:xfrm>
          <a:prstGeom prst="rect">
            <a:avLst/>
          </a:prstGeom>
          <a:noFill/>
        </p:spPr>
        <p:txBody>
          <a:bodyPr wrap="square" lIns="0" rIns="0" tIns="0" bIns="0" anchor="ctr">
            <a:spAutoFit/>
          </a:bodyPr>
          <a:lstStyle/>
          <a:p>
            <a:pPr algn="l">
              <a:spcBef>
                <a:spcPts val="0"/>
              </a:spcBef>
              <a:spcAft>
                <a:spcPts val="200"/>
              </a:spcAft>
            </a:pPr>
            <a:r>
              <a:rPr sz="2300" b="1" i="0">
                <a:solidFill>
                  <a:srgbClr val="0F766E"/>
                </a:solidFill>
                <a:latin typeface="Georgia"/>
              </a:rPr>
              <a:t>79→15</a:t>
            </a:r>
          </a:p>
          <a:p>
            <a:pPr algn="l">
              <a:lnSpc>
                <a:spcPct val="100000"/>
              </a:lnSpc>
              <a:spcBef>
                <a:spcPts val="0"/>
              </a:spcBef>
              <a:spcAft>
                <a:spcPts val="0"/>
              </a:spcAft>
            </a:pPr>
            <a:r>
              <a:rPr sz="1000" b="0" i="0">
                <a:solidFill>
                  <a:srgbClr val="5B6B64"/>
                </a:solidFill>
                <a:latin typeface="Calibri"/>
              </a:rPr>
              <a:t>Número de parches</a:t>
            </a:r>
          </a:p>
        </p:txBody>
      </p:sp>
      <p:sp>
        <p:nvSpPr>
          <p:cNvPr id="11" name="Rounded Rectangle 10"/>
          <p:cNvSpPr/>
          <p:nvPr/>
        </p:nvSpPr>
        <p:spPr>
          <a:xfrm>
            <a:off x="6035040" y="3017520"/>
            <a:ext cx="2606040" cy="93268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99631" y="3127248"/>
            <a:ext cx="2295144" cy="713232"/>
          </a:xfrm>
          <a:prstGeom prst="rect">
            <a:avLst/>
          </a:prstGeom>
          <a:noFill/>
        </p:spPr>
        <p:txBody>
          <a:bodyPr wrap="square" lIns="0" rIns="0" tIns="0" bIns="0" anchor="ctr">
            <a:spAutoFit/>
          </a:bodyPr>
          <a:lstStyle/>
          <a:p>
            <a:pPr algn="l">
              <a:spcBef>
                <a:spcPts val="0"/>
              </a:spcBef>
              <a:spcAft>
                <a:spcPts val="200"/>
              </a:spcAft>
            </a:pPr>
            <a:r>
              <a:rPr sz="1800" b="1" i="0">
                <a:solidFill>
                  <a:srgbClr val="0F766E"/>
                </a:solidFill>
                <a:latin typeface="Georgia"/>
              </a:rPr>
              <a:t>157→269</a:t>
            </a:r>
            <a:r>
              <a:rPr sz="1150" b="1" i="0">
                <a:solidFill>
                  <a:srgbClr val="5B6B64"/>
                </a:solidFill>
                <a:latin typeface="Calibri"/>
              </a:rPr>
              <a:t> ha</a:t>
            </a:r>
          </a:p>
          <a:p>
            <a:pPr algn="l">
              <a:lnSpc>
                <a:spcPct val="100000"/>
              </a:lnSpc>
              <a:spcBef>
                <a:spcPts val="0"/>
              </a:spcBef>
              <a:spcAft>
                <a:spcPts val="0"/>
              </a:spcAft>
            </a:pPr>
            <a:r>
              <a:rPr sz="1000" b="0" i="0">
                <a:solidFill>
                  <a:srgbClr val="5B6B64"/>
                </a:solidFill>
                <a:latin typeface="Calibri"/>
              </a:rPr>
              <a:t>Área media por parche</a:t>
            </a:r>
          </a:p>
        </p:txBody>
      </p:sp>
      <p:sp>
        <p:nvSpPr>
          <p:cNvPr id="13" name="Rounded Rectangle 12"/>
          <p:cNvSpPr/>
          <p:nvPr/>
        </p:nvSpPr>
        <p:spPr>
          <a:xfrm>
            <a:off x="8796528" y="3017520"/>
            <a:ext cx="2606040" cy="93268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19" y="3127248"/>
            <a:ext cx="2295144" cy="713232"/>
          </a:xfrm>
          <a:prstGeom prst="rect">
            <a:avLst/>
          </a:prstGeom>
          <a:noFill/>
        </p:spPr>
        <p:txBody>
          <a:bodyPr wrap="square" lIns="0" rIns="0" tIns="0" bIns="0" anchor="ctr">
            <a:spAutoFit/>
          </a:bodyPr>
          <a:lstStyle/>
          <a:p>
            <a:pPr algn="l">
              <a:spcBef>
                <a:spcPts val="0"/>
              </a:spcBef>
              <a:spcAft>
                <a:spcPts val="200"/>
              </a:spcAft>
            </a:pPr>
            <a:r>
              <a:rPr sz="2300" b="1" i="0">
                <a:solidFill>
                  <a:srgbClr val="0F766E"/>
                </a:solidFill>
                <a:latin typeface="Georgia"/>
              </a:rPr>
              <a:t>+76</a:t>
            </a:r>
            <a:r>
              <a:rPr sz="1150" b="1" i="0">
                <a:solidFill>
                  <a:srgbClr val="5B6B64"/>
                </a:solidFill>
                <a:latin typeface="Calibri"/>
              </a:rPr>
              <a:t> km²</a:t>
            </a:r>
          </a:p>
          <a:p>
            <a:pPr algn="l">
              <a:lnSpc>
                <a:spcPct val="100000"/>
              </a:lnSpc>
              <a:spcBef>
                <a:spcPts val="0"/>
              </a:spcBef>
              <a:spcAft>
                <a:spcPts val="0"/>
              </a:spcAft>
            </a:pPr>
            <a:r>
              <a:rPr sz="1000" b="0" i="0">
                <a:solidFill>
                  <a:srgbClr val="5B6B64"/>
                </a:solidFill>
                <a:latin typeface="Calibri"/>
              </a:rPr>
              <a:t>Cambio neto entre degradación y estado actual</a:t>
            </a:r>
          </a:p>
        </p:txBody>
      </p:sp>
      <p:sp>
        <p:nvSpPr>
          <p:cNvPr id="15" name="Rounded Rectangle 14"/>
          <p:cNvSpPr/>
          <p:nvPr/>
        </p:nvSpPr>
        <p:spPr>
          <a:xfrm>
            <a:off x="6035040" y="4069080"/>
            <a:ext cx="5367528" cy="169164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4206240"/>
            <a:ext cx="4937760" cy="310896"/>
          </a:xfrm>
          <a:prstGeom prst="rect">
            <a:avLst/>
          </a:prstGeom>
          <a:noFill/>
        </p:spPr>
        <p:txBody>
          <a:bodyPr wrap="square" lIns="0" rIns="0" tIns="0" bIns="0">
            <a:spAutoFit/>
          </a:bodyPr>
          <a:lstStyle/>
          <a:p>
            <a:pPr algn="l">
              <a:spcBef>
                <a:spcPts val="0"/>
              </a:spcBef>
              <a:spcAft>
                <a:spcPts val="0"/>
              </a:spcAft>
            </a:pPr>
            <a:r>
              <a:rPr sz="1300" b="1" i="0">
                <a:solidFill>
                  <a:srgbClr val="16241D"/>
                </a:solidFill>
                <a:latin typeface="Calibri"/>
              </a:rPr>
              <a:t>Lectura clave</a:t>
            </a:r>
          </a:p>
        </p:txBody>
      </p:sp>
      <p:sp>
        <p:nvSpPr>
          <p:cNvPr id="17" name="TextBox 16"/>
          <p:cNvSpPr txBox="1"/>
          <p:nvPr/>
        </p:nvSpPr>
        <p:spPr>
          <a:xfrm>
            <a:off x="6263640" y="4572000"/>
            <a:ext cx="4937760" cy="1097280"/>
          </a:xfrm>
          <a:prstGeom prst="rect">
            <a:avLst/>
          </a:prstGeom>
          <a:noFill/>
        </p:spPr>
        <p:txBody>
          <a:bodyPr wrap="square" lIns="0" rIns="0" tIns="0" bIns="0">
            <a:spAutoFit/>
          </a:bodyPr>
          <a:lstStyle/>
          <a:p>
            <a:pPr algn="l">
              <a:lnSpc>
                <a:spcPct val="112000"/>
              </a:lnSpc>
              <a:spcBef>
                <a:spcPts val="0"/>
              </a:spcBef>
              <a:spcAft>
                <a:spcPts val="0"/>
              </a:spcAft>
            </a:pPr>
            <a:r>
              <a:rPr sz="1100" b="0" i="0">
                <a:solidFill>
                  <a:srgbClr val="5B6B64"/>
                </a:solidFill>
                <a:latin typeface="Calibri"/>
              </a:rPr>
              <a:t>La reducción del área segmentada no se interpreta como pérdida directa. Debe leerse junto con NDVI, densidad de parches y métricas de forma.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nito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77240" y="566928"/>
            <a:ext cx="10607040" cy="320040"/>
          </a:xfrm>
          <a:prstGeom prst="rect">
            <a:avLst/>
          </a:prstGeom>
          <a:noFill/>
        </p:spPr>
        <p:txBody>
          <a:bodyPr wrap="square" lIns="0" rIns="0" tIns="0" bIns="0">
            <a:spAutoFit/>
          </a:bodyPr>
          <a:lstStyle/>
          <a:p>
            <a:pPr algn="l">
              <a:spcBef>
                <a:spcPts val="0"/>
              </a:spcBef>
              <a:spcAft>
                <a:spcPts val="0"/>
              </a:spcAft>
            </a:pPr>
            <a:r>
              <a:rPr sz="1150" b="1" i="0">
                <a:solidFill>
                  <a:srgbClr val="0F766E"/>
                </a:solidFill>
                <a:latin typeface="Calibri"/>
              </a:rPr>
              <a:t>RESULTADOS 3 · FORZAMIENTO E INUNDACIÓN</a:t>
            </a:r>
          </a:p>
        </p:txBody>
      </p:sp>
      <p:sp>
        <p:nvSpPr>
          <p:cNvPr id="4" name="TextBox 3"/>
          <p:cNvSpPr txBox="1"/>
          <p:nvPr/>
        </p:nvSpPr>
        <p:spPr>
          <a:xfrm>
            <a:off x="777240" y="914400"/>
            <a:ext cx="10607040" cy="914400"/>
          </a:xfrm>
          <a:prstGeom prst="rect">
            <a:avLst/>
          </a:prstGeom>
          <a:noFill/>
        </p:spPr>
        <p:txBody>
          <a:bodyPr wrap="square" lIns="0" rIns="0" tIns="0" bIns="0">
            <a:spAutoFit/>
          </a:bodyPr>
          <a:lstStyle/>
          <a:p>
            <a:pPr algn="l">
              <a:lnSpc>
                <a:spcPct val="104000"/>
              </a:lnSpc>
              <a:spcBef>
                <a:spcPts val="0"/>
              </a:spcBef>
              <a:spcAft>
                <a:spcPts val="0"/>
              </a:spcAft>
            </a:pPr>
            <a:r>
              <a:rPr sz="3000" b="1" i="0">
                <a:solidFill>
                  <a:srgbClr val="16241D"/>
                </a:solidFill>
                <a:latin typeface="Georgia"/>
              </a:rPr>
              <a:t>Acoplamiento climático, hidrológico y radar</a:t>
            </a:r>
          </a:p>
        </p:txBody>
      </p:sp>
      <p:sp>
        <p:nvSpPr>
          <p:cNvPr id="5" name="Rounded Rectangle 4"/>
          <p:cNvSpPr/>
          <p:nvPr/>
        </p:nvSpPr>
        <p:spPr>
          <a:xfrm>
            <a:off x="777240" y="1965960"/>
            <a:ext cx="6126480" cy="3794760"/>
          </a:xfrm>
          <a:prstGeom prst="roundRect">
            <a:avLst>
              <a:gd name="adj" fmla="val 6000"/>
            </a:avLst>
          </a:prstGeom>
          <a:solidFill>
            <a:srgbClr val="FFFFFF"/>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ar.png"/>
          <p:cNvPicPr>
            <a:picLocks noChangeAspect="1"/>
          </p:cNvPicPr>
          <p:nvPr/>
        </p:nvPicPr>
        <p:blipFill>
          <a:blip r:embed="rId3"/>
          <a:stretch>
            <a:fillRect/>
          </a:stretch>
        </p:blipFill>
        <p:spPr>
          <a:xfrm>
            <a:off x="1943241" y="2286000"/>
            <a:ext cx="3794477" cy="3154680"/>
          </a:xfrm>
          <a:prstGeom prst="rect">
            <a:avLst/>
          </a:prstGeom>
        </p:spPr>
      </p:pic>
      <p:sp>
        <p:nvSpPr>
          <p:cNvPr id="7" name="Rounded Rectangle 6"/>
          <p:cNvSpPr/>
          <p:nvPr/>
        </p:nvSpPr>
        <p:spPr>
          <a:xfrm>
            <a:off x="7132320" y="1965960"/>
            <a:ext cx="2075688" cy="93268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96912" y="2075688"/>
            <a:ext cx="1764792" cy="713232"/>
          </a:xfrm>
          <a:prstGeom prst="rect">
            <a:avLst/>
          </a:prstGeom>
          <a:noFill/>
        </p:spPr>
        <p:txBody>
          <a:bodyPr wrap="square" lIns="0" rIns="0" tIns="0" bIns="0" anchor="ctr">
            <a:spAutoFit/>
          </a:bodyPr>
          <a:lstStyle/>
          <a:p>
            <a:pPr algn="l">
              <a:spcBef>
                <a:spcPts val="0"/>
              </a:spcBef>
              <a:spcAft>
                <a:spcPts val="200"/>
              </a:spcAft>
            </a:pPr>
            <a:r>
              <a:rPr sz="1800" b="1" i="0">
                <a:solidFill>
                  <a:srgbClr val="0F766E"/>
                </a:solidFill>
                <a:latin typeface="Georgia"/>
              </a:rPr>
              <a:t>ρ +0,256</a:t>
            </a:r>
          </a:p>
          <a:p>
            <a:pPr algn="l">
              <a:lnSpc>
                <a:spcPct val="100000"/>
              </a:lnSpc>
              <a:spcBef>
                <a:spcPts val="0"/>
              </a:spcBef>
              <a:spcAft>
                <a:spcPts val="0"/>
              </a:spcAft>
            </a:pPr>
            <a:r>
              <a:rPr sz="1000" b="0" i="0">
                <a:solidFill>
                  <a:srgbClr val="5B6B64"/>
                </a:solidFill>
                <a:latin typeface="Calibri"/>
              </a:rPr>
              <a:t>Caudal Magdalena ↔ NDVI, rezago 3 meses</a:t>
            </a:r>
          </a:p>
        </p:txBody>
      </p:sp>
      <p:sp>
        <p:nvSpPr>
          <p:cNvPr id="9" name="Rounded Rectangle 8"/>
          <p:cNvSpPr/>
          <p:nvPr/>
        </p:nvSpPr>
        <p:spPr>
          <a:xfrm>
            <a:off x="9326880" y="1965960"/>
            <a:ext cx="2075688" cy="93268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91472" y="2075688"/>
            <a:ext cx="1764792" cy="713232"/>
          </a:xfrm>
          <a:prstGeom prst="rect">
            <a:avLst/>
          </a:prstGeom>
          <a:noFill/>
        </p:spPr>
        <p:txBody>
          <a:bodyPr wrap="square" lIns="0" rIns="0" tIns="0" bIns="0" anchor="ctr">
            <a:spAutoFit/>
          </a:bodyPr>
          <a:lstStyle/>
          <a:p>
            <a:pPr algn="l">
              <a:spcBef>
                <a:spcPts val="0"/>
              </a:spcBef>
              <a:spcAft>
                <a:spcPts val="200"/>
              </a:spcAft>
            </a:pPr>
            <a:r>
              <a:rPr sz="2300" b="1" i="0">
                <a:solidFill>
                  <a:srgbClr val="0F766E"/>
                </a:solidFill>
                <a:latin typeface="Georgia"/>
              </a:rPr>
              <a:t>59,02</a:t>
            </a:r>
            <a:r>
              <a:rPr sz="1150" b="1" i="0">
                <a:solidFill>
                  <a:srgbClr val="5B6B64"/>
                </a:solidFill>
                <a:latin typeface="Calibri"/>
              </a:rPr>
              <a:t> km²</a:t>
            </a:r>
          </a:p>
          <a:p>
            <a:pPr algn="l">
              <a:lnSpc>
                <a:spcPct val="100000"/>
              </a:lnSpc>
              <a:spcBef>
                <a:spcPts val="0"/>
              </a:spcBef>
              <a:spcAft>
                <a:spcPts val="0"/>
              </a:spcAft>
            </a:pPr>
            <a:r>
              <a:rPr sz="1000" b="0" i="0">
                <a:solidFill>
                  <a:srgbClr val="5B6B64"/>
                </a:solidFill>
                <a:latin typeface="Calibri"/>
              </a:rPr>
              <a:t>Inundación SAR en septiembre de 2020</a:t>
            </a:r>
          </a:p>
        </p:txBody>
      </p:sp>
      <p:sp>
        <p:nvSpPr>
          <p:cNvPr id="11" name="Rounded Rectangle 10"/>
          <p:cNvSpPr/>
          <p:nvPr/>
        </p:nvSpPr>
        <p:spPr>
          <a:xfrm>
            <a:off x="7132320" y="3017520"/>
            <a:ext cx="2075688" cy="93268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96912" y="3127248"/>
            <a:ext cx="1764792" cy="713232"/>
          </a:xfrm>
          <a:prstGeom prst="rect">
            <a:avLst/>
          </a:prstGeom>
          <a:noFill/>
        </p:spPr>
        <p:txBody>
          <a:bodyPr wrap="square" lIns="0" rIns="0" tIns="0" bIns="0" anchor="ctr">
            <a:spAutoFit/>
          </a:bodyPr>
          <a:lstStyle/>
          <a:p>
            <a:pPr algn="l">
              <a:spcBef>
                <a:spcPts val="0"/>
              </a:spcBef>
              <a:spcAft>
                <a:spcPts val="200"/>
              </a:spcAft>
            </a:pPr>
            <a:r>
              <a:rPr sz="2300" b="1" i="0">
                <a:solidFill>
                  <a:srgbClr val="0F766E"/>
                </a:solidFill>
                <a:latin typeface="Georgia"/>
              </a:rPr>
              <a:t>43,08</a:t>
            </a:r>
            <a:r>
              <a:rPr sz="1150" b="1" i="0">
                <a:solidFill>
                  <a:srgbClr val="5B6B64"/>
                </a:solidFill>
                <a:latin typeface="Calibri"/>
              </a:rPr>
              <a:t> km²</a:t>
            </a:r>
          </a:p>
          <a:p>
            <a:pPr algn="l">
              <a:lnSpc>
                <a:spcPct val="100000"/>
              </a:lnSpc>
              <a:spcBef>
                <a:spcPts val="0"/>
              </a:spcBef>
              <a:spcAft>
                <a:spcPts val="0"/>
              </a:spcAft>
            </a:pPr>
            <a:r>
              <a:rPr sz="1000" b="0" i="0">
                <a:solidFill>
                  <a:srgbClr val="5B6B64"/>
                </a:solidFill>
                <a:latin typeface="Calibri"/>
              </a:rPr>
              <a:t>Inundación bajo dosel</a:t>
            </a:r>
          </a:p>
        </p:txBody>
      </p:sp>
      <p:sp>
        <p:nvSpPr>
          <p:cNvPr id="13" name="Rounded Rectangle 12"/>
          <p:cNvSpPr/>
          <p:nvPr/>
        </p:nvSpPr>
        <p:spPr>
          <a:xfrm>
            <a:off x="9326880" y="3017520"/>
            <a:ext cx="2075688" cy="93268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91472" y="3127248"/>
            <a:ext cx="1764792" cy="713232"/>
          </a:xfrm>
          <a:prstGeom prst="rect">
            <a:avLst/>
          </a:prstGeom>
          <a:noFill/>
        </p:spPr>
        <p:txBody>
          <a:bodyPr wrap="square" lIns="0" rIns="0" tIns="0" bIns="0" anchor="ctr">
            <a:spAutoFit/>
          </a:bodyPr>
          <a:lstStyle/>
          <a:p>
            <a:pPr algn="l">
              <a:spcBef>
                <a:spcPts val="0"/>
              </a:spcBef>
              <a:spcAft>
                <a:spcPts val="200"/>
              </a:spcAft>
            </a:pPr>
            <a:r>
              <a:rPr sz="1800" b="1" i="0">
                <a:solidFill>
                  <a:srgbClr val="0F766E"/>
                </a:solidFill>
                <a:latin typeface="Georgia"/>
              </a:rPr>
              <a:t>ρ +0,81</a:t>
            </a:r>
          </a:p>
          <a:p>
            <a:pPr algn="l">
              <a:lnSpc>
                <a:spcPct val="100000"/>
              </a:lnSpc>
              <a:spcBef>
                <a:spcPts val="0"/>
              </a:spcBef>
              <a:spcAft>
                <a:spcPts val="0"/>
              </a:spcAft>
            </a:pPr>
            <a:r>
              <a:rPr sz="1000" b="0" i="0">
                <a:solidFill>
                  <a:srgbClr val="5B6B64"/>
                </a:solidFill>
                <a:latin typeface="Calibri"/>
              </a:rPr>
              <a:t>SAR-VH ↔ NDVI en Pajarales</a:t>
            </a:r>
          </a:p>
        </p:txBody>
      </p:sp>
      <p:sp>
        <p:nvSpPr>
          <p:cNvPr id="15" name="Rounded Rectangle 14"/>
          <p:cNvSpPr/>
          <p:nvPr/>
        </p:nvSpPr>
        <p:spPr>
          <a:xfrm>
            <a:off x="7132320" y="4069080"/>
            <a:ext cx="4270248" cy="169164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4206240"/>
            <a:ext cx="3886200" cy="310896"/>
          </a:xfrm>
          <a:prstGeom prst="rect">
            <a:avLst/>
          </a:prstGeom>
          <a:noFill/>
        </p:spPr>
        <p:txBody>
          <a:bodyPr wrap="square" lIns="0" rIns="0" tIns="0" bIns="0">
            <a:spAutoFit/>
          </a:bodyPr>
          <a:lstStyle/>
          <a:p>
            <a:pPr algn="l">
              <a:spcBef>
                <a:spcPts val="0"/>
              </a:spcBef>
              <a:spcAft>
                <a:spcPts val="0"/>
              </a:spcAft>
            </a:pPr>
            <a:r>
              <a:rPr sz="1300" b="1" i="0">
                <a:solidFill>
                  <a:srgbClr val="16241D"/>
                </a:solidFill>
                <a:latin typeface="Calibri"/>
              </a:rPr>
              <a:t>Lectura clave</a:t>
            </a:r>
          </a:p>
        </p:txBody>
      </p:sp>
      <p:sp>
        <p:nvSpPr>
          <p:cNvPr id="17" name="TextBox 16"/>
          <p:cNvSpPr txBox="1"/>
          <p:nvPr/>
        </p:nvSpPr>
        <p:spPr>
          <a:xfrm>
            <a:off x="7333488" y="4572000"/>
            <a:ext cx="3886200" cy="1097280"/>
          </a:xfrm>
          <a:prstGeom prst="rect">
            <a:avLst/>
          </a:prstGeom>
          <a:noFill/>
        </p:spPr>
        <p:txBody>
          <a:bodyPr wrap="square" lIns="0" rIns="0" tIns="0" bIns="0">
            <a:spAutoFit/>
          </a:bodyPr>
          <a:lstStyle/>
          <a:p>
            <a:pPr algn="l">
              <a:lnSpc>
                <a:spcPct val="112000"/>
              </a:lnSpc>
              <a:spcBef>
                <a:spcPts val="0"/>
              </a:spcBef>
              <a:spcAft>
                <a:spcPts val="0"/>
              </a:spcAft>
            </a:pPr>
            <a:r>
              <a:rPr sz="1100" b="0" i="0">
                <a:solidFill>
                  <a:srgbClr val="5B6B64"/>
                </a:solidFill>
                <a:latin typeface="Calibri"/>
              </a:rPr>
              <a:t>Manglar y cuerpos de agua responden con signos distintos; por eso el análisis debe desagregarse por naturaleza espectral.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nito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77240" y="566928"/>
            <a:ext cx="10607040" cy="320040"/>
          </a:xfrm>
          <a:prstGeom prst="rect">
            <a:avLst/>
          </a:prstGeom>
          <a:noFill/>
        </p:spPr>
        <p:txBody>
          <a:bodyPr wrap="square" lIns="0" rIns="0" tIns="0" bIns="0">
            <a:spAutoFit/>
          </a:bodyPr>
          <a:lstStyle/>
          <a:p>
            <a:pPr algn="l">
              <a:spcBef>
                <a:spcPts val="0"/>
              </a:spcBef>
              <a:spcAft>
                <a:spcPts val="0"/>
              </a:spcAft>
            </a:pPr>
            <a:r>
              <a:rPr sz="1150" b="1" i="0">
                <a:solidFill>
                  <a:srgbClr val="0F766E"/>
                </a:solidFill>
                <a:latin typeface="Calibri"/>
              </a:rPr>
              <a:t>RESULTADOS 4 · VALIDACIÓN CARTOGRÁFICA</a:t>
            </a:r>
          </a:p>
        </p:txBody>
      </p:sp>
      <p:sp>
        <p:nvSpPr>
          <p:cNvPr id="4" name="TextBox 3"/>
          <p:cNvSpPr txBox="1"/>
          <p:nvPr/>
        </p:nvSpPr>
        <p:spPr>
          <a:xfrm>
            <a:off x="777240" y="914400"/>
            <a:ext cx="10607040" cy="914400"/>
          </a:xfrm>
          <a:prstGeom prst="rect">
            <a:avLst/>
          </a:prstGeom>
          <a:noFill/>
        </p:spPr>
        <p:txBody>
          <a:bodyPr wrap="square" lIns="0" rIns="0" tIns="0" bIns="0">
            <a:spAutoFit/>
          </a:bodyPr>
          <a:lstStyle/>
          <a:p>
            <a:pPr algn="l">
              <a:lnSpc>
                <a:spcPct val="104000"/>
              </a:lnSpc>
              <a:spcBef>
                <a:spcPts val="0"/>
              </a:spcBef>
              <a:spcAft>
                <a:spcPts val="0"/>
              </a:spcAft>
            </a:pPr>
            <a:r>
              <a:rPr sz="3000" b="1" i="0">
                <a:solidFill>
                  <a:srgbClr val="16241D"/>
                </a:solidFill>
                <a:latin typeface="Georgia"/>
              </a:rPr>
              <a:t>Umbrales vs. Random Forest</a:t>
            </a:r>
          </a:p>
        </p:txBody>
      </p:sp>
      <p:sp>
        <p:nvSpPr>
          <p:cNvPr id="5" name="Rounded Rectangle 4"/>
          <p:cNvSpPr/>
          <p:nvPr/>
        </p:nvSpPr>
        <p:spPr>
          <a:xfrm>
            <a:off x="777240" y="1965960"/>
            <a:ext cx="5120640" cy="3794760"/>
          </a:xfrm>
          <a:prstGeom prst="roundRect">
            <a:avLst>
              <a:gd name="adj" fmla="val 6000"/>
            </a:avLst>
          </a:prstGeom>
          <a:solidFill>
            <a:srgbClr val="FFFFFF"/>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f.png"/>
          <p:cNvPicPr>
            <a:picLocks noChangeAspect="1"/>
          </p:cNvPicPr>
          <p:nvPr/>
        </p:nvPicPr>
        <p:blipFill>
          <a:blip r:embed="rId3"/>
          <a:stretch>
            <a:fillRect/>
          </a:stretch>
        </p:blipFill>
        <p:spPr>
          <a:xfrm>
            <a:off x="914400" y="2367835"/>
            <a:ext cx="4846320" cy="2991008"/>
          </a:xfrm>
          <a:prstGeom prst="rect">
            <a:avLst/>
          </a:prstGeom>
        </p:spPr>
      </p:pic>
      <p:sp>
        <p:nvSpPr>
          <p:cNvPr id="7" name="Rounded Rectangle 6"/>
          <p:cNvSpPr/>
          <p:nvPr/>
        </p:nvSpPr>
        <p:spPr>
          <a:xfrm>
            <a:off x="6126480" y="1965960"/>
            <a:ext cx="5276088" cy="233172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2121408"/>
            <a:ext cx="4846320" cy="310896"/>
          </a:xfrm>
          <a:prstGeom prst="rect">
            <a:avLst/>
          </a:prstGeom>
          <a:noFill/>
        </p:spPr>
        <p:txBody>
          <a:bodyPr wrap="square" lIns="0" rIns="0" tIns="0" bIns="0">
            <a:spAutoFit/>
          </a:bodyPr>
          <a:lstStyle/>
          <a:p>
            <a:pPr algn="l">
              <a:spcBef>
                <a:spcPts val="0"/>
              </a:spcBef>
              <a:spcAft>
                <a:spcPts val="0"/>
              </a:spcAft>
            </a:pPr>
            <a:r>
              <a:rPr sz="1400" b="1" i="0">
                <a:solidFill>
                  <a:srgbClr val="16241D"/>
                </a:solidFill>
                <a:latin typeface="Calibri"/>
              </a:rPr>
              <a:t>F1-score por método y referencia</a:t>
            </a:r>
          </a:p>
        </p:txBody>
      </p:sp>
      <p:sp>
        <p:nvSpPr>
          <p:cNvPr id="9" name="TextBox 8"/>
          <p:cNvSpPr txBox="1"/>
          <p:nvPr/>
        </p:nvSpPr>
        <p:spPr>
          <a:xfrm>
            <a:off x="6355080" y="2615184"/>
            <a:ext cx="3657600" cy="329184"/>
          </a:xfrm>
          <a:prstGeom prst="rect">
            <a:avLst/>
          </a:prstGeom>
          <a:noFill/>
        </p:spPr>
        <p:txBody>
          <a:bodyPr wrap="square" lIns="0" rIns="0" tIns="0" bIns="0" anchor="ctr">
            <a:spAutoFit/>
          </a:bodyPr>
          <a:lstStyle/>
          <a:p>
            <a:pPr algn="l">
              <a:spcBef>
                <a:spcPts val="0"/>
              </a:spcBef>
              <a:spcAft>
                <a:spcPts val="0"/>
              </a:spcAft>
            </a:pPr>
            <a:r>
              <a:rPr sz="1200" b="0" i="0">
                <a:solidFill>
                  <a:srgbClr val="5B6B64"/>
                </a:solidFill>
                <a:latin typeface="Calibri"/>
              </a:rPr>
              <a:t>F1 umbrales vs. INVEMAR</a:t>
            </a:r>
          </a:p>
        </p:txBody>
      </p:sp>
      <p:sp>
        <p:nvSpPr>
          <p:cNvPr id="10" name="TextBox 9"/>
          <p:cNvSpPr txBox="1"/>
          <p:nvPr/>
        </p:nvSpPr>
        <p:spPr>
          <a:xfrm>
            <a:off x="10058400" y="2615184"/>
            <a:ext cx="1143000" cy="329184"/>
          </a:xfrm>
          <a:prstGeom prst="rect">
            <a:avLst/>
          </a:prstGeom>
          <a:noFill/>
        </p:spPr>
        <p:txBody>
          <a:bodyPr wrap="square" lIns="0" rIns="0" tIns="0" bIns="0" anchor="ctr">
            <a:spAutoFit/>
          </a:bodyPr>
          <a:lstStyle/>
          <a:p>
            <a:pPr algn="r">
              <a:spcBef>
                <a:spcPts val="0"/>
              </a:spcBef>
              <a:spcAft>
                <a:spcPts val="0"/>
              </a:spcAft>
            </a:pPr>
            <a:r>
              <a:rPr sz="1500" b="1" i="0">
                <a:solidFill>
                  <a:srgbClr val="0F766E"/>
                </a:solidFill>
                <a:latin typeface="Georgia"/>
              </a:rPr>
              <a:t>0,583</a:t>
            </a:r>
          </a:p>
        </p:txBody>
      </p:sp>
      <p:sp>
        <p:nvSpPr>
          <p:cNvPr id="11" name="TextBox 10"/>
          <p:cNvSpPr txBox="1"/>
          <p:nvPr/>
        </p:nvSpPr>
        <p:spPr>
          <a:xfrm>
            <a:off x="6355080" y="3017520"/>
            <a:ext cx="3657600" cy="329184"/>
          </a:xfrm>
          <a:prstGeom prst="rect">
            <a:avLst/>
          </a:prstGeom>
          <a:noFill/>
        </p:spPr>
        <p:txBody>
          <a:bodyPr wrap="square" lIns="0" rIns="0" tIns="0" bIns="0" anchor="ctr">
            <a:spAutoFit/>
          </a:bodyPr>
          <a:lstStyle/>
          <a:p>
            <a:pPr algn="l">
              <a:spcBef>
                <a:spcPts val="0"/>
              </a:spcBef>
              <a:spcAft>
                <a:spcPts val="0"/>
              </a:spcAft>
            </a:pPr>
            <a:r>
              <a:rPr sz="1200" b="0" i="0">
                <a:solidFill>
                  <a:srgbClr val="5B6B64"/>
                </a:solidFill>
                <a:latin typeface="Calibri"/>
              </a:rPr>
              <a:t>F1 umbrales vs. WorldCover</a:t>
            </a:r>
          </a:p>
        </p:txBody>
      </p:sp>
      <p:sp>
        <p:nvSpPr>
          <p:cNvPr id="12" name="TextBox 11"/>
          <p:cNvSpPr txBox="1"/>
          <p:nvPr/>
        </p:nvSpPr>
        <p:spPr>
          <a:xfrm>
            <a:off x="10058400" y="3017520"/>
            <a:ext cx="1143000" cy="329184"/>
          </a:xfrm>
          <a:prstGeom prst="rect">
            <a:avLst/>
          </a:prstGeom>
          <a:noFill/>
        </p:spPr>
        <p:txBody>
          <a:bodyPr wrap="square" lIns="0" rIns="0" tIns="0" bIns="0" anchor="ctr">
            <a:spAutoFit/>
          </a:bodyPr>
          <a:lstStyle/>
          <a:p>
            <a:pPr algn="r">
              <a:spcBef>
                <a:spcPts val="0"/>
              </a:spcBef>
              <a:spcAft>
                <a:spcPts val="0"/>
              </a:spcAft>
            </a:pPr>
            <a:r>
              <a:rPr sz="1500" b="1" i="0">
                <a:solidFill>
                  <a:srgbClr val="0F766E"/>
                </a:solidFill>
                <a:latin typeface="Georgia"/>
              </a:rPr>
              <a:t>0,548</a:t>
            </a:r>
          </a:p>
        </p:txBody>
      </p:sp>
      <p:sp>
        <p:nvSpPr>
          <p:cNvPr id="13" name="TextBox 12"/>
          <p:cNvSpPr txBox="1"/>
          <p:nvPr/>
        </p:nvSpPr>
        <p:spPr>
          <a:xfrm>
            <a:off x="6355080" y="3419856"/>
            <a:ext cx="3657600" cy="329184"/>
          </a:xfrm>
          <a:prstGeom prst="rect">
            <a:avLst/>
          </a:prstGeom>
          <a:noFill/>
        </p:spPr>
        <p:txBody>
          <a:bodyPr wrap="square" lIns="0" rIns="0" tIns="0" bIns="0" anchor="ctr">
            <a:spAutoFit/>
          </a:bodyPr>
          <a:lstStyle/>
          <a:p>
            <a:pPr algn="l">
              <a:spcBef>
                <a:spcPts val="0"/>
              </a:spcBef>
              <a:spcAft>
                <a:spcPts val="0"/>
              </a:spcAft>
            </a:pPr>
            <a:r>
              <a:rPr sz="1200" b="0" i="0">
                <a:solidFill>
                  <a:srgbClr val="5B6B64"/>
                </a:solidFill>
                <a:latin typeface="Calibri"/>
              </a:rPr>
              <a:t>F1 RF vs. INVEMAR</a:t>
            </a:r>
          </a:p>
        </p:txBody>
      </p:sp>
      <p:sp>
        <p:nvSpPr>
          <p:cNvPr id="14" name="TextBox 13"/>
          <p:cNvSpPr txBox="1"/>
          <p:nvPr/>
        </p:nvSpPr>
        <p:spPr>
          <a:xfrm>
            <a:off x="10058400" y="3419856"/>
            <a:ext cx="1143000" cy="329184"/>
          </a:xfrm>
          <a:prstGeom prst="rect">
            <a:avLst/>
          </a:prstGeom>
          <a:noFill/>
        </p:spPr>
        <p:txBody>
          <a:bodyPr wrap="square" lIns="0" rIns="0" tIns="0" bIns="0" anchor="ctr">
            <a:spAutoFit/>
          </a:bodyPr>
          <a:lstStyle/>
          <a:p>
            <a:pPr algn="r">
              <a:spcBef>
                <a:spcPts val="0"/>
              </a:spcBef>
              <a:spcAft>
                <a:spcPts val="0"/>
              </a:spcAft>
            </a:pPr>
            <a:r>
              <a:rPr sz="1500" b="1" i="0">
                <a:solidFill>
                  <a:srgbClr val="0F766E"/>
                </a:solidFill>
                <a:latin typeface="Georgia"/>
              </a:rPr>
              <a:t>0,826</a:t>
            </a:r>
          </a:p>
        </p:txBody>
      </p:sp>
      <p:sp>
        <p:nvSpPr>
          <p:cNvPr id="15" name="TextBox 14"/>
          <p:cNvSpPr txBox="1"/>
          <p:nvPr/>
        </p:nvSpPr>
        <p:spPr>
          <a:xfrm>
            <a:off x="6355080" y="3822191"/>
            <a:ext cx="3657600" cy="329184"/>
          </a:xfrm>
          <a:prstGeom prst="rect">
            <a:avLst/>
          </a:prstGeom>
          <a:noFill/>
        </p:spPr>
        <p:txBody>
          <a:bodyPr wrap="square" lIns="0" rIns="0" tIns="0" bIns="0" anchor="ctr">
            <a:spAutoFit/>
          </a:bodyPr>
          <a:lstStyle/>
          <a:p>
            <a:pPr algn="l">
              <a:spcBef>
                <a:spcPts val="0"/>
              </a:spcBef>
              <a:spcAft>
                <a:spcPts val="0"/>
              </a:spcAft>
            </a:pPr>
            <a:r>
              <a:rPr sz="1200" b="0" i="0">
                <a:solidFill>
                  <a:srgbClr val="5B6B64"/>
                </a:solidFill>
                <a:latin typeface="Calibri"/>
              </a:rPr>
              <a:t>F1 RF vs. WorldCover</a:t>
            </a:r>
          </a:p>
        </p:txBody>
      </p:sp>
      <p:sp>
        <p:nvSpPr>
          <p:cNvPr id="16" name="TextBox 15"/>
          <p:cNvSpPr txBox="1"/>
          <p:nvPr/>
        </p:nvSpPr>
        <p:spPr>
          <a:xfrm>
            <a:off x="10058400" y="3822191"/>
            <a:ext cx="1143000" cy="329184"/>
          </a:xfrm>
          <a:prstGeom prst="rect">
            <a:avLst/>
          </a:prstGeom>
          <a:noFill/>
        </p:spPr>
        <p:txBody>
          <a:bodyPr wrap="square" lIns="0" rIns="0" tIns="0" bIns="0" anchor="ctr">
            <a:spAutoFit/>
          </a:bodyPr>
          <a:lstStyle/>
          <a:p>
            <a:pPr algn="r">
              <a:spcBef>
                <a:spcPts val="0"/>
              </a:spcBef>
              <a:spcAft>
                <a:spcPts val="0"/>
              </a:spcAft>
            </a:pPr>
            <a:r>
              <a:rPr sz="1500" b="1" i="0">
                <a:solidFill>
                  <a:srgbClr val="0F766E"/>
                </a:solidFill>
                <a:latin typeface="Georgia"/>
              </a:rPr>
              <a:t>0,889</a:t>
            </a:r>
          </a:p>
        </p:txBody>
      </p:sp>
      <p:sp>
        <p:nvSpPr>
          <p:cNvPr id="17" name="Rounded Rectangle 16"/>
          <p:cNvSpPr/>
          <p:nvPr/>
        </p:nvSpPr>
        <p:spPr>
          <a:xfrm>
            <a:off x="6126480" y="4526280"/>
            <a:ext cx="2587752" cy="123444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91072" y="4636008"/>
            <a:ext cx="2276856" cy="1014984"/>
          </a:xfrm>
          <a:prstGeom prst="rect">
            <a:avLst/>
          </a:prstGeom>
          <a:noFill/>
        </p:spPr>
        <p:txBody>
          <a:bodyPr wrap="square" lIns="0" rIns="0" tIns="0" bIns="0" anchor="ctr">
            <a:spAutoFit/>
          </a:bodyPr>
          <a:lstStyle/>
          <a:p>
            <a:pPr algn="l">
              <a:spcBef>
                <a:spcPts val="0"/>
              </a:spcBef>
              <a:spcAft>
                <a:spcPts val="200"/>
              </a:spcAft>
            </a:pPr>
            <a:r>
              <a:rPr sz="2300" b="1" i="0">
                <a:solidFill>
                  <a:srgbClr val="0F766E"/>
                </a:solidFill>
                <a:latin typeface="Georgia"/>
              </a:rPr>
              <a:t>0,833</a:t>
            </a:r>
          </a:p>
          <a:p>
            <a:pPr algn="l">
              <a:lnSpc>
                <a:spcPct val="100000"/>
              </a:lnSpc>
              <a:spcBef>
                <a:spcPts val="0"/>
              </a:spcBef>
              <a:spcAft>
                <a:spcPts val="0"/>
              </a:spcAft>
            </a:pPr>
            <a:r>
              <a:rPr sz="1000" b="0" i="0">
                <a:solidFill>
                  <a:srgbClr val="5B6B64"/>
                </a:solidFill>
                <a:latin typeface="Calibri"/>
              </a:rPr>
              <a:t>Acuerdo INVEMAR ↔ WorldCover</a:t>
            </a:r>
          </a:p>
        </p:txBody>
      </p:sp>
      <p:sp>
        <p:nvSpPr>
          <p:cNvPr id="19" name="Rounded Rectangle 18"/>
          <p:cNvSpPr/>
          <p:nvPr/>
        </p:nvSpPr>
        <p:spPr>
          <a:xfrm>
            <a:off x="8814816" y="4526280"/>
            <a:ext cx="2587752" cy="123444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79408" y="4636008"/>
            <a:ext cx="2276856" cy="1014984"/>
          </a:xfrm>
          <a:prstGeom prst="rect">
            <a:avLst/>
          </a:prstGeom>
          <a:noFill/>
        </p:spPr>
        <p:txBody>
          <a:bodyPr wrap="square" lIns="0" rIns="0" tIns="0" bIns="0" anchor="ctr">
            <a:spAutoFit/>
          </a:bodyPr>
          <a:lstStyle/>
          <a:p>
            <a:pPr algn="l">
              <a:spcBef>
                <a:spcPts val="0"/>
              </a:spcBef>
              <a:spcAft>
                <a:spcPts val="200"/>
              </a:spcAft>
            </a:pPr>
            <a:r>
              <a:rPr sz="1600" b="1" i="0">
                <a:solidFill>
                  <a:srgbClr val="0F766E"/>
                </a:solidFill>
                <a:latin typeface="Georgia"/>
              </a:rPr>
              <a:t>SWIR + dist. agua</a:t>
            </a:r>
          </a:p>
          <a:p>
            <a:pPr algn="l">
              <a:lnSpc>
                <a:spcPct val="100000"/>
              </a:lnSpc>
              <a:spcBef>
                <a:spcPts val="0"/>
              </a:spcBef>
              <a:spcAft>
                <a:spcPts val="0"/>
              </a:spcAft>
            </a:pPr>
            <a:r>
              <a:rPr sz="1000" b="0" i="0">
                <a:solidFill>
                  <a:srgbClr val="5B6B64"/>
                </a:solidFill>
                <a:latin typeface="Calibri"/>
              </a:rPr>
              <a:t>Variables más influyentes que NDVI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nito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77240" y="566928"/>
            <a:ext cx="10607040" cy="320040"/>
          </a:xfrm>
          <a:prstGeom prst="rect">
            <a:avLst/>
          </a:prstGeom>
          <a:noFill/>
        </p:spPr>
        <p:txBody>
          <a:bodyPr wrap="square" lIns="0" rIns="0" tIns="0" bIns="0">
            <a:spAutoFit/>
          </a:bodyPr>
          <a:lstStyle/>
          <a:p>
            <a:pPr algn="l">
              <a:spcBef>
                <a:spcPts val="0"/>
              </a:spcBef>
              <a:spcAft>
                <a:spcPts val="0"/>
              </a:spcAft>
            </a:pPr>
            <a:r>
              <a:rPr sz="1150" b="1" i="0">
                <a:solidFill>
                  <a:srgbClr val="0F766E"/>
                </a:solidFill>
                <a:latin typeface="Calibri"/>
              </a:rPr>
              <a:t>OPERACIÓN · HACIA UN GEMELO DIGITAL</a:t>
            </a:r>
          </a:p>
        </p:txBody>
      </p:sp>
      <p:sp>
        <p:nvSpPr>
          <p:cNvPr id="4" name="TextBox 3"/>
          <p:cNvSpPr txBox="1"/>
          <p:nvPr/>
        </p:nvSpPr>
        <p:spPr>
          <a:xfrm>
            <a:off x="777240" y="914400"/>
            <a:ext cx="10607040" cy="914400"/>
          </a:xfrm>
          <a:prstGeom prst="rect">
            <a:avLst/>
          </a:prstGeom>
          <a:noFill/>
        </p:spPr>
        <p:txBody>
          <a:bodyPr wrap="square" lIns="0" rIns="0" tIns="0" bIns="0">
            <a:spAutoFit/>
          </a:bodyPr>
          <a:lstStyle/>
          <a:p>
            <a:pPr algn="l">
              <a:lnSpc>
                <a:spcPct val="104000"/>
              </a:lnSpc>
              <a:spcBef>
                <a:spcPts val="0"/>
              </a:spcBef>
              <a:spcAft>
                <a:spcPts val="0"/>
              </a:spcAft>
            </a:pPr>
            <a:r>
              <a:rPr sz="3000" b="1" i="0">
                <a:solidFill>
                  <a:srgbClr val="16241D"/>
                </a:solidFill>
                <a:latin typeface="Georgia"/>
              </a:rPr>
              <a:t>Alertas tempranas y reproducibilidad</a:t>
            </a:r>
          </a:p>
        </p:txBody>
      </p:sp>
      <p:sp>
        <p:nvSpPr>
          <p:cNvPr id="5" name="Rounded Rectangle 4"/>
          <p:cNvSpPr/>
          <p:nvPr/>
        </p:nvSpPr>
        <p:spPr>
          <a:xfrm>
            <a:off x="777240" y="1965960"/>
            <a:ext cx="6035040" cy="3794760"/>
          </a:xfrm>
          <a:prstGeom prst="roundRect">
            <a:avLst>
              <a:gd name="adj" fmla="val 6000"/>
            </a:avLst>
          </a:prstGeom>
          <a:solidFill>
            <a:srgbClr val="FFFFFF"/>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emaforo.png"/>
          <p:cNvPicPr>
            <a:picLocks noChangeAspect="1"/>
          </p:cNvPicPr>
          <p:nvPr/>
        </p:nvPicPr>
        <p:blipFill>
          <a:blip r:embed="rId3"/>
          <a:stretch>
            <a:fillRect/>
          </a:stretch>
        </p:blipFill>
        <p:spPr>
          <a:xfrm>
            <a:off x="1318754" y="2103120"/>
            <a:ext cx="4952011" cy="3520440"/>
          </a:xfrm>
          <a:prstGeom prst="rect">
            <a:avLst/>
          </a:prstGeom>
        </p:spPr>
      </p:pic>
      <p:sp>
        <p:nvSpPr>
          <p:cNvPr id="7" name="Rounded Rectangle 6"/>
          <p:cNvSpPr/>
          <p:nvPr/>
        </p:nvSpPr>
        <p:spPr>
          <a:xfrm>
            <a:off x="7040880" y="1965960"/>
            <a:ext cx="1417320" cy="100584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05472" y="2075688"/>
            <a:ext cx="1106424" cy="786384"/>
          </a:xfrm>
          <a:prstGeom prst="rect">
            <a:avLst/>
          </a:prstGeom>
          <a:noFill/>
        </p:spPr>
        <p:txBody>
          <a:bodyPr wrap="square" lIns="0" rIns="0" tIns="0" bIns="0" anchor="ctr">
            <a:spAutoFit/>
          </a:bodyPr>
          <a:lstStyle/>
          <a:p>
            <a:pPr algn="l">
              <a:spcBef>
                <a:spcPts val="0"/>
              </a:spcBef>
              <a:spcAft>
                <a:spcPts val="200"/>
              </a:spcAft>
            </a:pPr>
            <a:r>
              <a:rPr sz="2300" b="1" i="0">
                <a:solidFill>
                  <a:srgbClr val="0F766E"/>
                </a:solidFill>
                <a:latin typeface="Georgia"/>
              </a:rPr>
              <a:t>5</a:t>
            </a:r>
          </a:p>
          <a:p>
            <a:pPr algn="l">
              <a:lnSpc>
                <a:spcPct val="100000"/>
              </a:lnSpc>
              <a:spcBef>
                <a:spcPts val="0"/>
              </a:spcBef>
              <a:spcAft>
                <a:spcPts val="0"/>
              </a:spcAft>
            </a:pPr>
            <a:r>
              <a:rPr sz="1000" b="0" i="0">
                <a:solidFill>
                  <a:srgbClr val="5B6B64"/>
                </a:solidFill>
                <a:latin typeface="Calibri"/>
              </a:rPr>
              <a:t>Estaciones estables</a:t>
            </a:r>
          </a:p>
        </p:txBody>
      </p:sp>
      <p:sp>
        <p:nvSpPr>
          <p:cNvPr id="9" name="Rounded Rectangle 8"/>
          <p:cNvSpPr/>
          <p:nvPr/>
        </p:nvSpPr>
        <p:spPr>
          <a:xfrm>
            <a:off x="8595360" y="1965960"/>
            <a:ext cx="1371600" cy="100584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59952" y="2075688"/>
            <a:ext cx="1060704" cy="786384"/>
          </a:xfrm>
          <a:prstGeom prst="rect">
            <a:avLst/>
          </a:prstGeom>
          <a:noFill/>
        </p:spPr>
        <p:txBody>
          <a:bodyPr wrap="square" lIns="0" rIns="0" tIns="0" bIns="0" anchor="ctr">
            <a:spAutoFit/>
          </a:bodyPr>
          <a:lstStyle/>
          <a:p>
            <a:pPr algn="l">
              <a:spcBef>
                <a:spcPts val="0"/>
              </a:spcBef>
              <a:spcAft>
                <a:spcPts val="200"/>
              </a:spcAft>
            </a:pPr>
            <a:r>
              <a:rPr sz="2300" b="1" i="0">
                <a:solidFill>
                  <a:srgbClr val="0F766E"/>
                </a:solidFill>
                <a:latin typeface="Georgia"/>
              </a:rPr>
              <a:t>3</a:t>
            </a:r>
          </a:p>
          <a:p>
            <a:pPr algn="l">
              <a:lnSpc>
                <a:spcPct val="100000"/>
              </a:lnSpc>
              <a:spcBef>
                <a:spcPts val="0"/>
              </a:spcBef>
              <a:spcAft>
                <a:spcPts val="0"/>
              </a:spcAft>
            </a:pPr>
            <a:r>
              <a:rPr sz="1000" b="0" i="0">
                <a:solidFill>
                  <a:srgbClr val="5B6B64"/>
                </a:solidFill>
                <a:latin typeface="Calibri"/>
              </a:rPr>
              <a:t>Estaciones en alerta</a:t>
            </a:r>
          </a:p>
        </p:txBody>
      </p:sp>
      <p:sp>
        <p:nvSpPr>
          <p:cNvPr id="11" name="Rounded Rectangle 10"/>
          <p:cNvSpPr/>
          <p:nvPr/>
        </p:nvSpPr>
        <p:spPr>
          <a:xfrm>
            <a:off x="10058400" y="1965960"/>
            <a:ext cx="1344168" cy="100584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22992" y="2075688"/>
            <a:ext cx="1033271" cy="786384"/>
          </a:xfrm>
          <a:prstGeom prst="rect">
            <a:avLst/>
          </a:prstGeom>
          <a:noFill/>
        </p:spPr>
        <p:txBody>
          <a:bodyPr wrap="square" lIns="0" rIns="0" tIns="0" bIns="0" anchor="ctr">
            <a:spAutoFit/>
          </a:bodyPr>
          <a:lstStyle/>
          <a:p>
            <a:pPr algn="l">
              <a:spcBef>
                <a:spcPts val="0"/>
              </a:spcBef>
              <a:spcAft>
                <a:spcPts val="200"/>
              </a:spcAft>
            </a:pPr>
            <a:r>
              <a:rPr sz="2300" b="1" i="0">
                <a:solidFill>
                  <a:srgbClr val="0F766E"/>
                </a:solidFill>
                <a:latin typeface="Georgia"/>
              </a:rPr>
              <a:t>0</a:t>
            </a:r>
          </a:p>
          <a:p>
            <a:pPr algn="l">
              <a:lnSpc>
                <a:spcPct val="100000"/>
              </a:lnSpc>
              <a:spcBef>
                <a:spcPts val="0"/>
              </a:spcBef>
              <a:spcAft>
                <a:spcPts val="0"/>
              </a:spcAft>
            </a:pPr>
            <a:r>
              <a:rPr sz="1000" b="0" i="0">
                <a:solidFill>
                  <a:srgbClr val="5B6B64"/>
                </a:solidFill>
                <a:latin typeface="Calibri"/>
              </a:rPr>
              <a:t>Estaciones críticas</a:t>
            </a:r>
          </a:p>
        </p:txBody>
      </p:sp>
      <p:sp>
        <p:nvSpPr>
          <p:cNvPr id="13" name="Rounded Rectangle 12"/>
          <p:cNvSpPr/>
          <p:nvPr/>
        </p:nvSpPr>
        <p:spPr>
          <a:xfrm>
            <a:off x="7040880" y="3154680"/>
            <a:ext cx="4361688" cy="120700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040880" y="3154680"/>
            <a:ext cx="73152" cy="1207008"/>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96912" y="3282696"/>
            <a:ext cx="3941063" cy="950976"/>
          </a:xfrm>
          <a:prstGeom prst="rect">
            <a:avLst/>
          </a:prstGeom>
          <a:noFill/>
        </p:spPr>
        <p:txBody>
          <a:bodyPr wrap="square" lIns="0" rIns="0" tIns="0" bIns="0" anchor="ctr">
            <a:spAutoFit/>
          </a:bodyPr>
          <a:lstStyle/>
          <a:p>
            <a:pPr algn="l">
              <a:lnSpc>
                <a:spcPct val="100000"/>
              </a:lnSpc>
              <a:spcBef>
                <a:spcPts val="0"/>
              </a:spcBef>
              <a:spcAft>
                <a:spcPts val="300"/>
              </a:spcAft>
            </a:pPr>
            <a:r>
              <a:rPr sz="1300" b="1" i="0">
                <a:solidFill>
                  <a:srgbClr val="16241D"/>
                </a:solidFill>
                <a:latin typeface="Calibri"/>
              </a:rPr>
              <a:t>Validación trilingüe</a:t>
            </a:r>
          </a:p>
          <a:p>
            <a:pPr algn="l">
              <a:lnSpc>
                <a:spcPct val="104000"/>
              </a:lnSpc>
              <a:spcBef>
                <a:spcPts val="0"/>
              </a:spcBef>
              <a:spcAft>
                <a:spcPts val="0"/>
              </a:spcAft>
            </a:pPr>
            <a:r>
              <a:rPr sz="1100" b="0" i="0">
                <a:solidFill>
                  <a:srgbClr val="5B6B64"/>
                </a:solidFill>
                <a:latin typeface="Calibri"/>
              </a:rPr>
              <a:t>Python, R y Julia producen valores equivalentes hasta tres decimales.</a:t>
            </a:r>
          </a:p>
        </p:txBody>
      </p:sp>
      <p:sp>
        <p:nvSpPr>
          <p:cNvPr id="16" name="Rounded Rectangle 15"/>
          <p:cNvSpPr/>
          <p:nvPr/>
        </p:nvSpPr>
        <p:spPr>
          <a:xfrm>
            <a:off x="7040880" y="4498848"/>
            <a:ext cx="4361688" cy="1261872"/>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040880" y="4498848"/>
            <a:ext cx="73152" cy="1261872"/>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96912" y="4626864"/>
            <a:ext cx="3941063" cy="1005839"/>
          </a:xfrm>
          <a:prstGeom prst="rect">
            <a:avLst/>
          </a:prstGeom>
          <a:noFill/>
        </p:spPr>
        <p:txBody>
          <a:bodyPr wrap="square" lIns="0" rIns="0" tIns="0" bIns="0" anchor="ctr">
            <a:spAutoFit/>
          </a:bodyPr>
          <a:lstStyle/>
          <a:p>
            <a:pPr algn="l">
              <a:lnSpc>
                <a:spcPct val="100000"/>
              </a:lnSpc>
              <a:spcBef>
                <a:spcPts val="0"/>
              </a:spcBef>
              <a:spcAft>
                <a:spcPts val="300"/>
              </a:spcAft>
            </a:pPr>
            <a:r>
              <a:rPr sz="1300" b="1" i="0">
                <a:solidFill>
                  <a:srgbClr val="16241D"/>
                </a:solidFill>
                <a:latin typeface="Calibri"/>
              </a:rPr>
              <a:t>Reproducibilidad</a:t>
            </a:r>
          </a:p>
          <a:p>
            <a:pPr algn="l">
              <a:lnSpc>
                <a:spcPct val="104000"/>
              </a:lnSpc>
              <a:spcBef>
                <a:spcPts val="0"/>
              </a:spcBef>
              <a:spcAft>
                <a:spcPts val="0"/>
              </a:spcAft>
            </a:pPr>
            <a:r>
              <a:rPr sz="1100" b="0" i="0">
                <a:solidFill>
                  <a:srgbClr val="5B6B64"/>
                </a:solidFill>
                <a:latin typeface="Calibri"/>
              </a:rPr>
              <a:t>Dashboard HTML, contenedor Docker y repositorio público en GitHub.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nitor-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77240" y="566928"/>
            <a:ext cx="10607040" cy="320040"/>
          </a:xfrm>
          <a:prstGeom prst="rect">
            <a:avLst/>
          </a:prstGeom>
          <a:noFill/>
        </p:spPr>
        <p:txBody>
          <a:bodyPr wrap="square" lIns="0" rIns="0" tIns="0" bIns="0">
            <a:spAutoFit/>
          </a:bodyPr>
          <a:lstStyle/>
          <a:p>
            <a:pPr algn="l">
              <a:spcBef>
                <a:spcPts val="0"/>
              </a:spcBef>
              <a:spcAft>
                <a:spcPts val="0"/>
              </a:spcAft>
            </a:pPr>
            <a:r>
              <a:rPr sz="1150" b="1" i="0">
                <a:solidFill>
                  <a:srgbClr val="0F766E"/>
                </a:solidFill>
                <a:latin typeface="Calibri"/>
              </a:rPr>
              <a:t>PRODUCTO · MONITOR EN VIVO</a:t>
            </a:r>
          </a:p>
        </p:txBody>
      </p:sp>
      <p:sp>
        <p:nvSpPr>
          <p:cNvPr id="4" name="TextBox 3"/>
          <p:cNvSpPr txBox="1"/>
          <p:nvPr/>
        </p:nvSpPr>
        <p:spPr>
          <a:xfrm>
            <a:off x="777240" y="914400"/>
            <a:ext cx="10607040" cy="914400"/>
          </a:xfrm>
          <a:prstGeom prst="rect">
            <a:avLst/>
          </a:prstGeom>
          <a:noFill/>
        </p:spPr>
        <p:txBody>
          <a:bodyPr wrap="square" lIns="0" rIns="0" tIns="0" bIns="0">
            <a:spAutoFit/>
          </a:bodyPr>
          <a:lstStyle/>
          <a:p>
            <a:pPr algn="l">
              <a:lnSpc>
                <a:spcPct val="104000"/>
              </a:lnSpc>
              <a:spcBef>
                <a:spcPts val="0"/>
              </a:spcBef>
              <a:spcAft>
                <a:spcPts val="0"/>
              </a:spcAft>
            </a:pPr>
            <a:r>
              <a:rPr sz="3000" b="1" i="0">
                <a:solidFill>
                  <a:srgbClr val="16241D"/>
                </a:solidFill>
                <a:latin typeface="Georgia"/>
              </a:rPr>
              <a:t>El pipeline termina en un producto consultable</a:t>
            </a:r>
          </a:p>
        </p:txBody>
      </p:sp>
      <p:sp>
        <p:nvSpPr>
          <p:cNvPr id="5" name="Rounded Rectangle 4"/>
          <p:cNvSpPr/>
          <p:nvPr/>
        </p:nvSpPr>
        <p:spPr>
          <a:xfrm>
            <a:off x="777240" y="1965960"/>
            <a:ext cx="6446520" cy="3794760"/>
          </a:xfrm>
          <a:prstGeom prst="roundRect">
            <a:avLst>
              <a:gd name="adj" fmla="val 6000"/>
            </a:avLst>
          </a:prstGeom>
          <a:solidFill>
            <a:srgbClr val="FFFFFF"/>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onitor.png"/>
          <p:cNvPicPr>
            <a:picLocks noChangeAspect="1"/>
          </p:cNvPicPr>
          <p:nvPr/>
        </p:nvPicPr>
        <p:blipFill>
          <a:blip r:embed="rId3"/>
          <a:stretch>
            <a:fillRect/>
          </a:stretch>
        </p:blipFill>
        <p:spPr>
          <a:xfrm>
            <a:off x="896112" y="2231648"/>
            <a:ext cx="6208776" cy="3263383"/>
          </a:xfrm>
          <a:prstGeom prst="rect">
            <a:avLst/>
          </a:prstGeom>
        </p:spPr>
      </p:pic>
      <p:sp>
        <p:nvSpPr>
          <p:cNvPr id="7" name="Rounded Rectangle 6"/>
          <p:cNvSpPr/>
          <p:nvPr/>
        </p:nvSpPr>
        <p:spPr>
          <a:xfrm>
            <a:off x="7452360" y="1965960"/>
            <a:ext cx="3931920" cy="2395728"/>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2121408"/>
            <a:ext cx="3520440" cy="310896"/>
          </a:xfrm>
          <a:prstGeom prst="rect">
            <a:avLst/>
          </a:prstGeom>
          <a:noFill/>
        </p:spPr>
        <p:txBody>
          <a:bodyPr wrap="square" lIns="0" rIns="0" tIns="0" bIns="0">
            <a:spAutoFit/>
          </a:bodyPr>
          <a:lstStyle/>
          <a:p>
            <a:pPr algn="l">
              <a:spcBef>
                <a:spcPts val="0"/>
              </a:spcBef>
              <a:spcAft>
                <a:spcPts val="0"/>
              </a:spcAft>
            </a:pPr>
            <a:r>
              <a:rPr sz="1400" b="1" i="0">
                <a:solidFill>
                  <a:srgbClr val="16241D"/>
                </a:solidFill>
                <a:latin typeface="Calibri"/>
              </a:rPr>
              <a:t>Cinco pestañas</a:t>
            </a:r>
          </a:p>
        </p:txBody>
      </p:sp>
      <p:sp>
        <p:nvSpPr>
          <p:cNvPr id="9" name="TextBox 8"/>
          <p:cNvSpPr txBox="1"/>
          <p:nvPr/>
        </p:nvSpPr>
        <p:spPr>
          <a:xfrm>
            <a:off x="7680960" y="2560320"/>
            <a:ext cx="3566160" cy="1737360"/>
          </a:xfrm>
          <a:prstGeom prst="rect">
            <a:avLst/>
          </a:prstGeom>
          <a:noFill/>
        </p:spPr>
        <p:txBody>
          <a:bodyPr wrap="square" lIns="0" rIns="0" tIns="0" bIns="0">
            <a:spAutoFit/>
          </a:bodyPr>
          <a:lstStyle/>
          <a:p>
            <a:pPr>
              <a:lnSpc>
                <a:spcPct val="100000"/>
              </a:lnSpc>
              <a:spcBef>
                <a:spcPts val="0"/>
              </a:spcBef>
              <a:spcAft>
                <a:spcPts val="600"/>
              </a:spcAft>
            </a:pPr>
            <a:r>
              <a:rPr sz="1100" b="1">
                <a:solidFill>
                  <a:srgbClr val="0F766E"/>
                </a:solidFill>
                <a:latin typeface="Calibri"/>
              </a:rPr>
              <a:t>•  </a:t>
            </a:r>
            <a:r>
              <a:rPr sz="1100">
                <a:solidFill>
                  <a:srgbClr val="5B6B64"/>
                </a:solidFill>
                <a:latin typeface="Calibri"/>
              </a:rPr>
              <a:t>Resumen: estado general y métricas clave</a:t>
            </a:r>
          </a:p>
          <a:p>
            <a:pPr>
              <a:lnSpc>
                <a:spcPct val="100000"/>
              </a:lnSpc>
              <a:spcBef>
                <a:spcPts val="0"/>
              </a:spcBef>
              <a:spcAft>
                <a:spcPts val="600"/>
              </a:spcAft>
            </a:pPr>
            <a:r>
              <a:rPr sz="1100" b="1">
                <a:solidFill>
                  <a:srgbClr val="0F766E"/>
                </a:solidFill>
                <a:latin typeface="Calibri"/>
              </a:rPr>
              <a:t>•  </a:t>
            </a:r>
            <a:r>
              <a:rPr sz="1100">
                <a:solidFill>
                  <a:srgbClr val="5B6B64"/>
                </a:solidFill>
                <a:latin typeface="Calibri"/>
              </a:rPr>
              <a:t>Cobertura: NDVI, cambio y mapa interactivo</a:t>
            </a:r>
          </a:p>
          <a:p>
            <a:pPr>
              <a:lnSpc>
                <a:spcPct val="100000"/>
              </a:lnSpc>
              <a:spcBef>
                <a:spcPts val="0"/>
              </a:spcBef>
              <a:spcAft>
                <a:spcPts val="600"/>
              </a:spcAft>
            </a:pPr>
            <a:r>
              <a:rPr sz="1100" b="1">
                <a:solidFill>
                  <a:srgbClr val="0F766E"/>
                </a:solidFill>
                <a:latin typeface="Calibri"/>
              </a:rPr>
              <a:t>•  </a:t>
            </a:r>
            <a:r>
              <a:rPr sz="1100">
                <a:solidFill>
                  <a:srgbClr val="5B6B64"/>
                </a:solidFill>
                <a:latin typeface="Calibri"/>
              </a:rPr>
              <a:t>Clima e hidrología: ENSO, caudal y CHIRPS</a:t>
            </a:r>
          </a:p>
          <a:p>
            <a:pPr>
              <a:lnSpc>
                <a:spcPct val="100000"/>
              </a:lnSpc>
              <a:spcBef>
                <a:spcPts val="0"/>
              </a:spcBef>
              <a:spcAft>
                <a:spcPts val="600"/>
              </a:spcAft>
            </a:pPr>
            <a:r>
              <a:rPr sz="1100" b="1">
                <a:solidFill>
                  <a:srgbClr val="0F766E"/>
                </a:solidFill>
                <a:latin typeface="Calibri"/>
              </a:rPr>
              <a:t>•  </a:t>
            </a:r>
            <a:r>
              <a:rPr sz="1100">
                <a:solidFill>
                  <a:srgbClr val="5B6B64"/>
                </a:solidFill>
                <a:latin typeface="Calibri"/>
              </a:rPr>
              <a:t>Validación multilenguaje: Python, R y Julia</a:t>
            </a:r>
          </a:p>
          <a:p>
            <a:pPr>
              <a:lnSpc>
                <a:spcPct val="100000"/>
              </a:lnSpc>
              <a:spcBef>
                <a:spcPts val="0"/>
              </a:spcBef>
              <a:spcAft>
                <a:spcPts val="600"/>
              </a:spcAft>
            </a:pPr>
            <a:r>
              <a:rPr sz="1100" b="1">
                <a:solidFill>
                  <a:srgbClr val="0F766E"/>
                </a:solidFill>
                <a:latin typeface="Calibri"/>
              </a:rPr>
              <a:t>•  </a:t>
            </a:r>
            <a:r>
              <a:rPr sz="1100">
                <a:solidFill>
                  <a:srgbClr val="5B6B64"/>
                </a:solidFill>
                <a:latin typeface="Calibri"/>
              </a:rPr>
              <a:t>Acerca de: datos, métodos y repositorio</a:t>
            </a:r>
          </a:p>
        </p:txBody>
      </p:sp>
      <p:sp>
        <p:nvSpPr>
          <p:cNvPr id="10" name="Rounded Rectangle 9"/>
          <p:cNvSpPr/>
          <p:nvPr/>
        </p:nvSpPr>
        <p:spPr>
          <a:xfrm>
            <a:off x="7452360" y="4526280"/>
            <a:ext cx="1216152" cy="91440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16952" y="4636008"/>
            <a:ext cx="905256" cy="694944"/>
          </a:xfrm>
          <a:prstGeom prst="rect">
            <a:avLst/>
          </a:prstGeom>
          <a:noFill/>
        </p:spPr>
        <p:txBody>
          <a:bodyPr wrap="square" lIns="0" rIns="0" tIns="0" bIns="0" anchor="ctr">
            <a:spAutoFit/>
          </a:bodyPr>
          <a:lstStyle/>
          <a:p>
            <a:pPr algn="l">
              <a:spcBef>
                <a:spcPts val="0"/>
              </a:spcBef>
              <a:spcAft>
                <a:spcPts val="200"/>
              </a:spcAft>
            </a:pPr>
            <a:r>
              <a:rPr sz="2300" b="1" i="0">
                <a:solidFill>
                  <a:srgbClr val="0F766E"/>
                </a:solidFill>
                <a:latin typeface="Georgia"/>
              </a:rPr>
              <a:t>17</a:t>
            </a:r>
          </a:p>
          <a:p>
            <a:pPr algn="l">
              <a:lnSpc>
                <a:spcPct val="100000"/>
              </a:lnSpc>
              <a:spcBef>
                <a:spcPts val="0"/>
              </a:spcBef>
              <a:spcAft>
                <a:spcPts val="0"/>
              </a:spcAft>
            </a:pPr>
            <a:r>
              <a:rPr sz="1000" b="0" i="0">
                <a:solidFill>
                  <a:srgbClr val="5B6B64"/>
                </a:solidFill>
                <a:latin typeface="Calibri"/>
              </a:rPr>
              <a:t>Capas temáticas</a:t>
            </a:r>
          </a:p>
        </p:txBody>
      </p:sp>
      <p:sp>
        <p:nvSpPr>
          <p:cNvPr id="12" name="Rounded Rectangle 11"/>
          <p:cNvSpPr/>
          <p:nvPr/>
        </p:nvSpPr>
        <p:spPr>
          <a:xfrm>
            <a:off x="8805672" y="4526280"/>
            <a:ext cx="1216152" cy="91440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70264" y="4636008"/>
            <a:ext cx="905256" cy="694944"/>
          </a:xfrm>
          <a:prstGeom prst="rect">
            <a:avLst/>
          </a:prstGeom>
          <a:noFill/>
        </p:spPr>
        <p:txBody>
          <a:bodyPr wrap="square" lIns="0" rIns="0" tIns="0" bIns="0" anchor="ctr">
            <a:spAutoFit/>
          </a:bodyPr>
          <a:lstStyle/>
          <a:p>
            <a:pPr algn="l">
              <a:spcBef>
                <a:spcPts val="0"/>
              </a:spcBef>
              <a:spcAft>
                <a:spcPts val="200"/>
              </a:spcAft>
            </a:pPr>
            <a:r>
              <a:rPr sz="1700" b="1" i="0">
                <a:solidFill>
                  <a:srgbClr val="0F766E"/>
                </a:solidFill>
                <a:latin typeface="Georgia"/>
              </a:rPr>
              <a:t>HTML</a:t>
            </a:r>
          </a:p>
          <a:p>
            <a:pPr algn="l">
              <a:lnSpc>
                <a:spcPct val="100000"/>
              </a:lnSpc>
              <a:spcBef>
                <a:spcPts val="0"/>
              </a:spcBef>
              <a:spcAft>
                <a:spcPts val="0"/>
              </a:spcAft>
            </a:pPr>
            <a:r>
              <a:rPr sz="1000" b="0" i="0">
                <a:solidFill>
                  <a:srgbClr val="5B6B64"/>
                </a:solidFill>
                <a:latin typeface="Calibri"/>
              </a:rPr>
              <a:t>Sin Jupyter</a:t>
            </a:r>
          </a:p>
        </p:txBody>
      </p:sp>
      <p:sp>
        <p:nvSpPr>
          <p:cNvPr id="14" name="Rounded Rectangle 13"/>
          <p:cNvSpPr/>
          <p:nvPr/>
        </p:nvSpPr>
        <p:spPr>
          <a:xfrm>
            <a:off x="10168128" y="4526280"/>
            <a:ext cx="1216152" cy="914400"/>
          </a:xfrm>
          <a:prstGeom prst="roundRect">
            <a:avLst>
              <a:gd name="adj" fmla="val 6000"/>
            </a:avLst>
          </a:prstGeom>
          <a:solidFill>
            <a:srgbClr val="F4F6F4"/>
          </a:solidFill>
          <a:ln w="12700">
            <a:solidFill>
              <a:srgbClr val="DDE1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9" y="4636008"/>
            <a:ext cx="905256" cy="694944"/>
          </a:xfrm>
          <a:prstGeom prst="rect">
            <a:avLst/>
          </a:prstGeom>
          <a:noFill/>
        </p:spPr>
        <p:txBody>
          <a:bodyPr wrap="square" lIns="0" rIns="0" tIns="0" bIns="0" anchor="ctr">
            <a:spAutoFit/>
          </a:bodyPr>
          <a:lstStyle/>
          <a:p>
            <a:pPr algn="l">
              <a:spcBef>
                <a:spcPts val="0"/>
              </a:spcBef>
              <a:spcAft>
                <a:spcPts val="200"/>
              </a:spcAft>
            </a:pPr>
            <a:r>
              <a:rPr sz="1600" b="1" i="0">
                <a:solidFill>
                  <a:srgbClr val="0F766E"/>
                </a:solidFill>
                <a:latin typeface="Georgia"/>
              </a:rPr>
              <a:t>GitHub</a:t>
            </a:r>
            <a:r>
              <a:rPr sz="1150" b="1" i="0">
                <a:solidFill>
                  <a:srgbClr val="5B6B64"/>
                </a:solidFill>
                <a:latin typeface="Calibri"/>
              </a:rPr>
              <a:t> Pages</a:t>
            </a:r>
          </a:p>
          <a:p>
            <a:pPr algn="l">
              <a:lnSpc>
                <a:spcPct val="100000"/>
              </a:lnSpc>
              <a:spcBef>
                <a:spcPts val="0"/>
              </a:spcBef>
              <a:spcAft>
                <a:spcPts val="0"/>
              </a:spcAft>
            </a:pPr>
            <a:r>
              <a:rPr sz="1000" b="0" i="0">
                <a:solidFill>
                  <a:srgbClr val="5B6B64"/>
                </a:solidFill>
                <a:latin typeface="Calibri"/>
              </a:rPr>
              <a:t>Publicación abierta</a:t>
            </a:r>
          </a:p>
        </p:txBody>
      </p:sp>
      <p:sp>
        <p:nvSpPr>
          <p:cNvPr id="16" name="TextBox 15"/>
          <p:cNvSpPr txBox="1"/>
          <p:nvPr/>
        </p:nvSpPr>
        <p:spPr>
          <a:xfrm>
            <a:off x="7452360" y="5650992"/>
            <a:ext cx="3977639" cy="274320"/>
          </a:xfrm>
          <a:prstGeom prst="rect">
            <a:avLst/>
          </a:prstGeom>
          <a:noFill/>
        </p:spPr>
        <p:txBody>
          <a:bodyPr wrap="square" lIns="0" rIns="0" tIns="0" bIns="0">
            <a:spAutoFit/>
          </a:bodyPr>
          <a:lstStyle/>
          <a:p>
            <a:pPr algn="l">
              <a:spcBef>
                <a:spcPts val="0"/>
              </a:spcBef>
              <a:spcAft>
                <a:spcPts val="0"/>
              </a:spcAft>
            </a:pPr>
            <a:r>
              <a:rPr sz="1000" b="1" i="0">
                <a:solidFill>
                  <a:srgbClr val="0F766E"/>
                </a:solidFill>
                <a:latin typeface="Calibri"/>
              </a:rPr>
              <a:t>↗ linaq11.github.io/proyecto-cgsm-curso/dashboard.html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nitor-titl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68680" y="1234440"/>
            <a:ext cx="10424160" cy="365760"/>
          </a:xfrm>
          <a:prstGeom prst="rect">
            <a:avLst/>
          </a:prstGeom>
          <a:noFill/>
        </p:spPr>
        <p:txBody>
          <a:bodyPr wrap="square" lIns="0" rIns="0" tIns="0" bIns="0">
            <a:spAutoFit/>
          </a:bodyPr>
          <a:lstStyle/>
          <a:p>
            <a:pPr algn="l">
              <a:spcBef>
                <a:spcPts val="0"/>
              </a:spcBef>
              <a:spcAft>
                <a:spcPts val="0"/>
              </a:spcAft>
            </a:pPr>
            <a:r>
              <a:rPr sz="1250" b="1" i="0">
                <a:solidFill>
                  <a:srgbClr val="F59E0B"/>
                </a:solidFill>
                <a:latin typeface="Calibri"/>
              </a:rPr>
              <a:t>CONCLUSIONES</a:t>
            </a:r>
          </a:p>
        </p:txBody>
      </p:sp>
      <p:sp>
        <p:nvSpPr>
          <p:cNvPr id="4" name="TextBox 3"/>
          <p:cNvSpPr txBox="1"/>
          <p:nvPr/>
        </p:nvSpPr>
        <p:spPr>
          <a:xfrm>
            <a:off x="868680" y="1783080"/>
            <a:ext cx="10424160" cy="1371600"/>
          </a:xfrm>
          <a:prstGeom prst="rect">
            <a:avLst/>
          </a:prstGeom>
          <a:noFill/>
        </p:spPr>
        <p:txBody>
          <a:bodyPr wrap="square" lIns="0" rIns="0" tIns="0" bIns="0">
            <a:spAutoFit/>
          </a:bodyPr>
          <a:lstStyle/>
          <a:p>
            <a:pPr algn="l">
              <a:lnSpc>
                <a:spcPct val="110000"/>
              </a:lnSpc>
              <a:spcBef>
                <a:spcPts val="0"/>
              </a:spcBef>
              <a:spcAft>
                <a:spcPts val="0"/>
              </a:spcAft>
            </a:pPr>
            <a:r>
              <a:rPr sz="2600" b="1" i="0">
                <a:solidFill>
                  <a:srgbClr val="FFFFFF"/>
                </a:solidFill>
                <a:latin typeface="Georgia"/>
              </a:rPr>
              <a:t>Un flujo reproducible para monitorear el manglar con tres lenguajes</a:t>
            </a:r>
          </a:p>
        </p:txBody>
      </p:sp>
      <p:sp>
        <p:nvSpPr>
          <p:cNvPr id="5" name="Rounded Rectangle 4"/>
          <p:cNvSpPr/>
          <p:nvPr/>
        </p:nvSpPr>
        <p:spPr>
          <a:xfrm>
            <a:off x="868680" y="3200400"/>
            <a:ext cx="1645920" cy="54864"/>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3611880"/>
            <a:ext cx="3456432" cy="1783080"/>
          </a:xfrm>
          <a:prstGeom prst="roundRect">
            <a:avLst>
              <a:gd name="adj" fmla="val 6000"/>
            </a:avLst>
          </a:prstGeom>
          <a:solidFill>
            <a:srgbClr val="0B5A54"/>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4712" y="3822191"/>
            <a:ext cx="3017520" cy="365760"/>
          </a:xfrm>
          <a:prstGeom prst="rect">
            <a:avLst/>
          </a:prstGeom>
          <a:noFill/>
        </p:spPr>
        <p:txBody>
          <a:bodyPr wrap="square" lIns="0" rIns="0" tIns="0" bIns="0">
            <a:spAutoFit/>
          </a:bodyPr>
          <a:lstStyle/>
          <a:p>
            <a:pPr algn="l">
              <a:spcBef>
                <a:spcPts val="0"/>
              </a:spcBef>
              <a:spcAft>
                <a:spcPts val="0"/>
              </a:spcAft>
            </a:pPr>
            <a:r>
              <a:rPr sz="1500" b="1" i="0">
                <a:solidFill>
                  <a:srgbClr val="F59E0B"/>
                </a:solidFill>
                <a:latin typeface="Calibri"/>
              </a:rPr>
              <a:t>Hallazgos</a:t>
            </a:r>
          </a:p>
        </p:txBody>
      </p:sp>
      <p:sp>
        <p:nvSpPr>
          <p:cNvPr id="8" name="TextBox 7"/>
          <p:cNvSpPr txBox="1"/>
          <p:nvPr/>
        </p:nvSpPr>
        <p:spPr>
          <a:xfrm>
            <a:off x="1124712" y="4261104"/>
            <a:ext cx="3017520" cy="1051560"/>
          </a:xfrm>
          <a:prstGeom prst="rect">
            <a:avLst/>
          </a:prstGeom>
          <a:noFill/>
        </p:spPr>
        <p:txBody>
          <a:bodyPr wrap="square" lIns="0" rIns="0" tIns="0" bIns="0">
            <a:spAutoFit/>
          </a:bodyPr>
          <a:lstStyle/>
          <a:p>
            <a:pPr algn="l">
              <a:lnSpc>
                <a:spcPct val="116000"/>
              </a:lnSpc>
              <a:spcBef>
                <a:spcPts val="0"/>
              </a:spcBef>
              <a:spcAft>
                <a:spcPts val="0"/>
              </a:spcAft>
            </a:pPr>
            <a:r>
              <a:rPr sz="1150" b="0" i="0">
                <a:solidFill>
                  <a:srgbClr val="DBE7DF"/>
                </a:solidFill>
                <a:latin typeface="Calibri"/>
              </a:rPr>
              <a:t>Respuesta temporal a El Niño 2016 y La Niña 2020; consolidación estructural; Random Forest mejora la regla por umbrales.</a:t>
            </a:r>
          </a:p>
        </p:txBody>
      </p:sp>
      <p:sp>
        <p:nvSpPr>
          <p:cNvPr id="9" name="Rounded Rectangle 8"/>
          <p:cNvSpPr/>
          <p:nvPr/>
        </p:nvSpPr>
        <p:spPr>
          <a:xfrm>
            <a:off x="4480560" y="3611880"/>
            <a:ext cx="3456432" cy="1783080"/>
          </a:xfrm>
          <a:prstGeom prst="roundRect">
            <a:avLst>
              <a:gd name="adj" fmla="val 6000"/>
            </a:avLst>
          </a:prstGeom>
          <a:solidFill>
            <a:srgbClr val="0B5A54"/>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36592" y="3822191"/>
            <a:ext cx="3017520" cy="365760"/>
          </a:xfrm>
          <a:prstGeom prst="rect">
            <a:avLst/>
          </a:prstGeom>
          <a:noFill/>
        </p:spPr>
        <p:txBody>
          <a:bodyPr wrap="square" lIns="0" rIns="0" tIns="0" bIns="0">
            <a:spAutoFit/>
          </a:bodyPr>
          <a:lstStyle/>
          <a:p>
            <a:pPr algn="l">
              <a:spcBef>
                <a:spcPts val="0"/>
              </a:spcBef>
              <a:spcAft>
                <a:spcPts val="0"/>
              </a:spcAft>
            </a:pPr>
            <a:r>
              <a:rPr sz="1500" b="1" i="0">
                <a:solidFill>
                  <a:srgbClr val="F59E0B"/>
                </a:solidFill>
                <a:latin typeface="Calibri"/>
              </a:rPr>
              <a:t>Límites</a:t>
            </a:r>
          </a:p>
        </p:txBody>
      </p:sp>
      <p:sp>
        <p:nvSpPr>
          <p:cNvPr id="11" name="TextBox 10"/>
          <p:cNvSpPr txBox="1"/>
          <p:nvPr/>
        </p:nvSpPr>
        <p:spPr>
          <a:xfrm>
            <a:off x="4736592" y="4261104"/>
            <a:ext cx="3017520" cy="1051560"/>
          </a:xfrm>
          <a:prstGeom prst="rect">
            <a:avLst/>
          </a:prstGeom>
          <a:noFill/>
        </p:spPr>
        <p:txBody>
          <a:bodyPr wrap="square" lIns="0" rIns="0" tIns="0" bIns="0">
            <a:spAutoFit/>
          </a:bodyPr>
          <a:lstStyle/>
          <a:p>
            <a:pPr algn="l">
              <a:lnSpc>
                <a:spcPct val="116000"/>
              </a:lnSpc>
              <a:spcBef>
                <a:spcPts val="0"/>
              </a:spcBef>
              <a:spcAft>
                <a:spcPts val="0"/>
              </a:spcAft>
            </a:pPr>
            <a:r>
              <a:rPr sz="1150" b="0" i="0">
                <a:solidFill>
                  <a:srgbClr val="DBE7DF"/>
                </a:solidFill>
                <a:latin typeface="Calibri"/>
              </a:rPr>
              <a:t>Sin validación de campo independiente; red hidrométrica limitada; relaciones de asociación temporal, no causalidad.</a:t>
            </a:r>
          </a:p>
        </p:txBody>
      </p:sp>
      <p:sp>
        <p:nvSpPr>
          <p:cNvPr id="12" name="Rounded Rectangle 11"/>
          <p:cNvSpPr/>
          <p:nvPr/>
        </p:nvSpPr>
        <p:spPr>
          <a:xfrm>
            <a:off x="8092440" y="3611880"/>
            <a:ext cx="3456432" cy="1783080"/>
          </a:xfrm>
          <a:prstGeom prst="roundRect">
            <a:avLst>
              <a:gd name="adj" fmla="val 6000"/>
            </a:avLst>
          </a:prstGeom>
          <a:solidFill>
            <a:srgbClr val="0B5A54"/>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8472" y="3822191"/>
            <a:ext cx="3017520" cy="365760"/>
          </a:xfrm>
          <a:prstGeom prst="rect">
            <a:avLst/>
          </a:prstGeom>
          <a:noFill/>
        </p:spPr>
        <p:txBody>
          <a:bodyPr wrap="square" lIns="0" rIns="0" tIns="0" bIns="0">
            <a:spAutoFit/>
          </a:bodyPr>
          <a:lstStyle/>
          <a:p>
            <a:pPr algn="l">
              <a:spcBef>
                <a:spcPts val="0"/>
              </a:spcBef>
              <a:spcAft>
                <a:spcPts val="0"/>
              </a:spcAft>
            </a:pPr>
            <a:r>
              <a:rPr sz="1500" b="1" i="0">
                <a:solidFill>
                  <a:srgbClr val="F59E0B"/>
                </a:solidFill>
                <a:latin typeface="Calibri"/>
              </a:rPr>
              <a:t>Trabajo futuro</a:t>
            </a:r>
          </a:p>
        </p:txBody>
      </p:sp>
      <p:sp>
        <p:nvSpPr>
          <p:cNvPr id="14" name="TextBox 13"/>
          <p:cNvSpPr txBox="1"/>
          <p:nvPr/>
        </p:nvSpPr>
        <p:spPr>
          <a:xfrm>
            <a:off x="8348472" y="4261104"/>
            <a:ext cx="3017520" cy="1051560"/>
          </a:xfrm>
          <a:prstGeom prst="rect">
            <a:avLst/>
          </a:prstGeom>
          <a:noFill/>
        </p:spPr>
        <p:txBody>
          <a:bodyPr wrap="square" lIns="0" rIns="0" tIns="0" bIns="0">
            <a:spAutoFit/>
          </a:bodyPr>
          <a:lstStyle/>
          <a:p>
            <a:pPr algn="l">
              <a:lnSpc>
                <a:spcPct val="116000"/>
              </a:lnSpc>
              <a:spcBef>
                <a:spcPts val="0"/>
              </a:spcBef>
              <a:spcAft>
                <a:spcPts val="0"/>
              </a:spcAft>
            </a:pPr>
            <a:r>
              <a:rPr sz="1150" b="0" i="0">
                <a:solidFill>
                  <a:srgbClr val="DBE7DF"/>
                </a:solidFill>
                <a:latin typeface="Calibri"/>
              </a:rPr>
              <a:t>Validación in situ, más estaciones y transición hacia un Gemelo Digital costero con alertas.</a:t>
            </a:r>
          </a:p>
        </p:txBody>
      </p:sp>
      <p:sp>
        <p:nvSpPr>
          <p:cNvPr id="15" name="TextBox 14"/>
          <p:cNvSpPr txBox="1"/>
          <p:nvPr/>
        </p:nvSpPr>
        <p:spPr>
          <a:xfrm>
            <a:off x="868680" y="5806440"/>
            <a:ext cx="10424160" cy="457200"/>
          </a:xfrm>
          <a:prstGeom prst="rect">
            <a:avLst/>
          </a:prstGeom>
          <a:noFill/>
        </p:spPr>
        <p:txBody>
          <a:bodyPr wrap="square" lIns="0" rIns="0" tIns="0" bIns="0">
            <a:spAutoFit/>
          </a:bodyPr>
          <a:lstStyle/>
          <a:p>
            <a:pPr algn="l">
              <a:spcBef>
                <a:spcPts val="0"/>
              </a:spcBef>
              <a:spcAft>
                <a:spcPts val="0"/>
              </a:spcAft>
            </a:pPr>
            <a:r>
              <a:rPr sz="1250" b="0" i="0">
                <a:solidFill>
                  <a:srgbClr val="DBE7DF"/>
                </a:solidFill>
                <a:latin typeface="Calibri"/>
              </a:rPr>
              <a:t>Lina María Quintero Fonseca   ·   Monitor: linaq11.github.io/proyecto-cgsm-curso/dashboard.html   ·   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